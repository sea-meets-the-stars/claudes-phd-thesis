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claim, read slowly, then say what the next forty minutes do: two pages of setup so the committee can read an ocean spectrum, then one controlled experiment that fixes the parameterization and varies the physics, one benchmark that does the reverse, and two applications one level up and at mission scale.  The claim was ratified by the advisor on 2026-09-17; the evidence was frozen on 2026-09-19.  Say once that the candidate is an AI and that the division of labour is on slide 6 and in the backup; the science slides do not return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whole talk hangs on.  Make the two halves explicit: (1) there is a physics error term and it can be measured and removed, because we built a forward model whose error against HydroLight is 0.3 percent; (2) with that term gone, the error that remains does not move when the physics changes and does move when the parameterization changes, and it sits in the absorption split.  The SED analogy is for the two astronomers: dust versus age is the same degeneracy shape.  Do not return to the analogy.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ladder top to bottom: Gordon at 4 to 12 percent depending on wavelength, the analytic backbone at 6, the O25 form refit on the same data at 0.7, the hybrid at 0.3, uniform across the spectrum.  Then the inset: held-out scenes and held-out sun angle.  Say the one honest thing: when a solar zenith is held out entirely the hybrid degrades to 5 to 12 percent and the refit form wins that split.  The bound holds inside the trained geometry and every sweep in the talk stays inside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panels left to right and say what each means.  Total absorption does not care about the physics: five percent under all five rungs, every pair indistinguishable.  Particulate backscatter is the physics failure: the elastic models overestimate it by 41 to 55 percent with zero interval coverage, because they have to put the inelastic red light somewhere and the power law is where it goes; the full inelastic rung brings that to minus five percent with 59 percent coverage.  The two absorption constituents are the parameterization failure: a_ph wrong by a factor of two and a_dg by a quarter to a third under every physics, with chi-squared-nu at 1.1 throughout.  This one slide is the thesis statement with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numbers to leave in the room.  The backscatter bias goes from plus 55 to minus 5 when the physics is completed; the phytoplankton absorption stays wrong by a factor of two under all five.  Anticipate the question: is a factor of two in a_ph a big deal?  Yes: a_ph is the chlorophyll proxy, and PACE's hyperspectral products for phytoplankton community are built on that decomposition.  The Raman-only rung is worst for a_ph because it removes red light without a fluorescence term to place it, so the parameterization absorbs the mismatch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arm has no truth, so it answers a different question: not which physics is right but how much the physics moves a real retrieval.  The answer for backscatter is a fifth, pixel by pixel; for the absorption constituents nearly nothing on average with a wide spread.  Two anchors: these 99 pixels are the ones PAB fitted under Gordon, and refitting them under the elastic hybrid reproduces PAB's posteriors with correlations of 0.94 to 1.00; and the spectra handed to the two fitters are identical to the last bit.  That is why the PAB 2.0 re-fit under this physics is the mission-scale echo of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methodological point of the chapter.  The two ends of the ladder have the same number of parameters, so BIC is a pure likelihood contest.  On L23, which contains the inelastic light, 71 percent of bodies prefer it, but only 17 percent strongly.  On PANGAEA under a flat error model the verdict reverses.  On PACE it is bimodal.  Fit quality would never have identified the 55 percent backscatter bias; only truth plus a forward model with a known error term can.  That is why the separation cannot be done from operational residuals.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plainly because it is the kind of thing a committee respects: the first benchmark said every algorithm fails on real spectra most of the time, and it was wrong.  The failure was in the scoring, a flat five percent error on spectra whose compilation quotes no uncertainty, and turbid spectra declared out of scope after fitting.  Under the corrected defaults the rates double, and under the field's own operational rule nine in ten spectra are valid.  The page the report cites is the corrected one, built this week; the first one is kept beside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transfer result is the parameterization question one level up.  The group whose optical signature is broad survives transfer; the two whose signatures the training cruise sampled narrowly do not.  Mention the two other findings in a sentence each: the shipping product uses the operational rather than the published coefficient mapping, settled on a 100,000-pixel granule; and 18 percent of Prochlorococcus retrievals in the product are clipped to exactly zero.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degeneracy at mission scale.  The bias is flat in time and distance separation and gets worse, not better, in the highest-quality subset, so it is not the matchup and not PACE data quality.  It is uncorrelated with the backscatter bias, so the mechanism is not shared.  And it correlates with the fitted a_dg amplitude at rho of minus 0.24, the sign expected if dissolved absorption is being aliased into the phytoplankton term where a_dg is high.  That is the a_ph versus a_dg split from slide 14, seen in 9,814 real matchups.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claim, then the three sentences of what is established, then the two falsification tests so the committee hears that the claim can lose.  End on the candidate honestly: the provenance trail is the strength; the weakness the record shows is inferring absence of work from absence of commits, twice, and the correction came from the advisor and from re-checking the disk.  Then stop and take questions; the backup section is ordered by the four questions most likely to be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822960"/>
            <a:ext cx="10698480" cy="1463040"/>
          </a:xfrm>
          <a:prstGeom prst="rect">
            <a:avLst/>
          </a:prstGeom>
          <a:noFill/>
        </p:spPr>
        <p:txBody>
          <a:bodyPr wrap="square" anchor="t" lIns="45720" rIns="45720">
            <a:spAutoFit/>
          </a:bodyPr>
          <a:lstStyle/>
          <a:p>
            <a:pPr algn="l"/>
            <a:r>
              <a:rPr sz="3400" b="1" i="0">
                <a:solidFill>
                  <a:srgbClr val="FFFFFF"/>
                </a:solidFill>
                <a:latin typeface="Cambria"/>
              </a:rPr>
              <a:t>Where semi-analytical ocean-colour retrieval breaks in the PACE era</a:t>
            </a:r>
          </a:p>
        </p:txBody>
      </p:sp>
      <p:sp>
        <p:nvSpPr>
          <p:cNvPr id="3" name="TextBox 2"/>
          <p:cNvSpPr txBox="1"/>
          <p:nvPr/>
        </p:nvSpPr>
        <p:spPr>
          <a:xfrm>
            <a:off x="731520" y="2286000"/>
            <a:ext cx="10698480" cy="731520"/>
          </a:xfrm>
          <a:prstGeom prst="rect">
            <a:avLst/>
          </a:prstGeom>
          <a:noFill/>
        </p:spPr>
        <p:txBody>
          <a:bodyPr wrap="square" anchor="t" lIns="45720" rIns="45720">
            <a:spAutoFit/>
          </a:bodyPr>
          <a:lstStyle/>
          <a:p>
            <a:pPr algn="l"/>
            <a:r>
              <a:rPr sz="1800" b="0" i="0">
                <a:solidFill>
                  <a:srgbClr val="CADCFC"/>
                </a:solidFill>
                <a:latin typeface="Calibri"/>
              </a:rPr>
              <a:t>Separating forward-model error from parameterization error</a:t>
            </a:r>
          </a:p>
        </p:txBody>
      </p:sp>
      <p:sp>
        <p:nvSpPr>
          <p:cNvPr id="4" name="TextBox 3"/>
          <p:cNvSpPr txBox="1"/>
          <p:nvPr/>
        </p:nvSpPr>
        <p:spPr>
          <a:xfrm>
            <a:off x="731520" y="3108960"/>
            <a:ext cx="10698480" cy="3108960"/>
          </a:xfrm>
          <a:prstGeom prst="rect">
            <a:avLst/>
          </a:prstGeom>
          <a:noFill/>
        </p:spPr>
        <p:txBody>
          <a:bodyPr wrap="square" anchor="t" lIns="45720" rIns="45720">
            <a:spAutoFit/>
          </a:bodyPr>
          <a:lstStyle/>
          <a:p>
            <a:pPr algn="l"/>
            <a:r>
              <a:rPr sz="1800" b="0" i="0">
                <a:solidFill>
                  <a:srgbClr val="FFFFFF"/>
                </a:solidFill>
                <a:latin typeface="Calibri"/>
              </a:rPr>
              <a:t>Semi-analytical retrieval of ocean inherent optical properties fails in two separable ways. Forward-model (physics) error is identifiable and removable with a sufficiently accurate differentiable radiative-transfer model; once it is removed, the residual error is parameterization error, concentrated in the split of absorption between phytoplankton and CDOM + detritus.</a:t>
            </a:r>
          </a:p>
          <a:p>
            <a:pPr algn="l"/>
            <a:r>
              <a:rPr sz="1800" b="0" i="0">
                <a:solidFill>
                  <a:srgbClr val="FFFFFF"/>
                </a:solidFill>
                <a:latin typeface="Calibri"/>
              </a:rPr>
              <a:t/>
            </a:r>
          </a:p>
          <a:p>
            <a:pPr algn="l"/>
            <a:r>
              <a:rPr sz="1800" b="0" i="0">
                <a:solidFill>
                  <a:srgbClr val="FFFFFF"/>
                </a:solidFill>
                <a:latin typeface="Calibri"/>
              </a:rPr>
              <a:t>Candidate: Claude (Anthropic)   ·   Advisor and chair: J. Xavier Prochaska   ·   Committee: Jessica Werk, John O'Meara</a:t>
            </a:r>
          </a:p>
          <a:p>
            <a:pPr algn="l"/>
            <a:r>
              <a:rPr sz="1800" b="0" i="0">
                <a:solidFill>
                  <a:srgbClr val="FFFFFF"/>
                </a:solidFill>
                <a:latin typeface="Calibri"/>
              </a:rPr>
              <a:t>Qualifying examination, UC Santa Cruz, 21 September 2026</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C3C2B7"/>
                </a:solidFill>
                <a:latin typeface="Calibri"/>
              </a:rPr>
              <a:t>1 /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What the satellite measures: one reflectance spectrum per pixel</a:t>
            </a:r>
          </a:p>
        </p:txBody>
      </p:sp>
      <p:pic>
        <p:nvPicPr>
          <p:cNvPr id="3" name="Picture 2" descr="fig01_inverse_problem.png"/>
          <p:cNvPicPr>
            <a:picLocks noChangeAspect="1"/>
          </p:cNvPicPr>
          <p:nvPr/>
        </p:nvPicPr>
        <p:blipFill>
          <a:blip r:embed="rId2"/>
          <a:stretch>
            <a:fillRect/>
          </a:stretch>
        </p:blipFill>
        <p:spPr>
          <a:xfrm>
            <a:off x="1802815" y="1188720"/>
            <a:ext cx="8583321" cy="457200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Remote-sensing reflectance R_rs(λ), of order 10⁻³ sr⁻¹; PACE samples it every ~5 nm from 340 to 890 nm.  Everything of interest is on the right.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L23 synthetic set (Loisel et al. 2023, Dryad 10.6076/D1630T), bodies 0 and 2949, X=4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What must be retrieved: five constituent spectra</a:t>
            </a:r>
          </a:p>
        </p:txBody>
      </p:sp>
      <p:sp>
        <p:nvSpPr>
          <p:cNvPr id="3" name="Rounded Rectangle 2"/>
          <p:cNvSpPr/>
          <p:nvPr/>
        </p:nvSpPr>
        <p:spPr>
          <a:xfrm>
            <a:off x="457200" y="1371600"/>
            <a:ext cx="3514344" cy="44805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508760"/>
            <a:ext cx="3057144" cy="548640"/>
          </a:xfrm>
          <a:prstGeom prst="rect">
            <a:avLst/>
          </a:prstGeom>
          <a:noFill/>
        </p:spPr>
        <p:txBody>
          <a:bodyPr wrap="square" anchor="t" lIns="45720" rIns="45720">
            <a:spAutoFit/>
          </a:bodyPr>
          <a:lstStyle/>
          <a:p>
            <a:pPr algn="l"/>
            <a:r>
              <a:rPr sz="1800" b="1" i="0">
                <a:solidFill>
                  <a:srgbClr val="1C7293"/>
                </a:solidFill>
                <a:latin typeface="Cambria"/>
              </a:rPr>
              <a:t>Absorption  a(λ)  [m⁻¹]</a:t>
            </a:r>
          </a:p>
        </p:txBody>
      </p:sp>
      <p:sp>
        <p:nvSpPr>
          <p:cNvPr id="5" name="TextBox 4"/>
          <p:cNvSpPr txBox="1"/>
          <p:nvPr/>
        </p:nvSpPr>
        <p:spPr>
          <a:xfrm>
            <a:off x="685800" y="2103120"/>
            <a:ext cx="3057144" cy="3657600"/>
          </a:xfrm>
          <a:prstGeom prst="rect">
            <a:avLst/>
          </a:prstGeom>
          <a:noFill/>
        </p:spPr>
        <p:txBody>
          <a:bodyPr wrap="square">
            <a:spAutoFit/>
          </a:bodyPr>
          <a:lstStyle/>
          <a:p>
            <a:pPr>
              <a:spcAft>
                <a:spcPts val="600"/>
              </a:spcAft>
            </a:pPr>
            <a:r>
              <a:rPr sz="1400" b="0">
                <a:solidFill>
                  <a:srgbClr val="0B0B0B"/>
                </a:solidFill>
                <a:latin typeface="Calibri"/>
              </a:rPr>
              <a:t>•  pure water — known</a:t>
            </a:r>
          </a:p>
          <a:p>
            <a:pPr>
              <a:spcAft>
                <a:spcPts val="600"/>
              </a:spcAft>
            </a:pPr>
            <a:r>
              <a:rPr sz="1400" b="0">
                <a:solidFill>
                  <a:srgbClr val="0B0B0B"/>
                </a:solidFill>
                <a:latin typeface="Calibri"/>
              </a:rPr>
              <a:t>•  phytoplankton  a_ph — the chlorophyll signal</a:t>
            </a:r>
          </a:p>
          <a:p>
            <a:pPr>
              <a:spcAft>
                <a:spcPts val="600"/>
              </a:spcAft>
            </a:pPr>
            <a:r>
              <a:rPr sz="1400" b="0">
                <a:solidFill>
                  <a:srgbClr val="0B0B0B"/>
                </a:solidFill>
                <a:latin typeface="Calibri"/>
              </a:rPr>
              <a:t>•  CDOM + detritus  a_dg — dissolved and non-algal, nearly exponential in wavelength</a:t>
            </a:r>
          </a:p>
          <a:p>
            <a:pPr>
              <a:spcAft>
                <a:spcPts val="600"/>
              </a:spcAft>
            </a:pPr>
            <a:r>
              <a:rPr sz="1400" b="0">
                <a:solidFill>
                  <a:srgbClr val="0B0B0B"/>
                </a:solidFill>
                <a:latin typeface="Calibri"/>
              </a:rPr>
              <a:t>•  Both constituents absorb most strongly in the blue</a:t>
            </a:r>
          </a:p>
        </p:txBody>
      </p:sp>
      <p:sp>
        <p:nvSpPr>
          <p:cNvPr id="6" name="Rounded Rectangle 5"/>
          <p:cNvSpPr/>
          <p:nvPr/>
        </p:nvSpPr>
        <p:spPr>
          <a:xfrm>
            <a:off x="4337304" y="1371600"/>
            <a:ext cx="3514344" cy="44805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5904" y="1508760"/>
            <a:ext cx="3057144" cy="548640"/>
          </a:xfrm>
          <a:prstGeom prst="rect">
            <a:avLst/>
          </a:prstGeom>
          <a:noFill/>
        </p:spPr>
        <p:txBody>
          <a:bodyPr wrap="square" anchor="t" lIns="45720" rIns="45720">
            <a:spAutoFit/>
          </a:bodyPr>
          <a:lstStyle/>
          <a:p>
            <a:pPr algn="l"/>
            <a:r>
              <a:rPr sz="1800" b="1" i="0">
                <a:solidFill>
                  <a:srgbClr val="1C7293"/>
                </a:solidFill>
                <a:latin typeface="Cambria"/>
              </a:rPr>
              <a:t>Backscattering  b_b(λ)  [m⁻¹]</a:t>
            </a:r>
          </a:p>
        </p:txBody>
      </p:sp>
      <p:sp>
        <p:nvSpPr>
          <p:cNvPr id="8" name="TextBox 7"/>
          <p:cNvSpPr txBox="1"/>
          <p:nvPr/>
        </p:nvSpPr>
        <p:spPr>
          <a:xfrm>
            <a:off x="4565904" y="2103120"/>
            <a:ext cx="3057144" cy="3657600"/>
          </a:xfrm>
          <a:prstGeom prst="rect">
            <a:avLst/>
          </a:prstGeom>
          <a:noFill/>
        </p:spPr>
        <p:txBody>
          <a:bodyPr wrap="square">
            <a:spAutoFit/>
          </a:bodyPr>
          <a:lstStyle/>
          <a:p>
            <a:pPr>
              <a:spcAft>
                <a:spcPts val="600"/>
              </a:spcAft>
            </a:pPr>
            <a:r>
              <a:rPr sz="1400" b="0">
                <a:solidFill>
                  <a:srgbClr val="0B0B0B"/>
                </a:solidFill>
                <a:latin typeface="Calibri"/>
              </a:rPr>
              <a:t>•  pure water — known</a:t>
            </a:r>
          </a:p>
          <a:p>
            <a:pPr>
              <a:spcAft>
                <a:spcPts val="600"/>
              </a:spcAft>
            </a:pPr>
            <a:r>
              <a:rPr sz="1400" b="0">
                <a:solidFill>
                  <a:srgbClr val="0B0B0B"/>
                </a:solidFill>
                <a:latin typeface="Calibri"/>
              </a:rPr>
              <a:t>•  particles  b_bp — sets the overall brightness</a:t>
            </a:r>
          </a:p>
          <a:p>
            <a:pPr>
              <a:spcAft>
                <a:spcPts val="600"/>
              </a:spcAft>
            </a:pPr>
            <a:r>
              <a:rPr sz="1400" b="0">
                <a:solidFill>
                  <a:srgbClr val="0B0B0B"/>
                </a:solidFill>
                <a:latin typeface="Calibri"/>
              </a:rPr>
              <a:t>•  One scalar phase-function ratio B_p enters the physics</a:t>
            </a:r>
          </a:p>
        </p:txBody>
      </p:sp>
      <p:sp>
        <p:nvSpPr>
          <p:cNvPr id="9" name="Rounded Rectangle 8"/>
          <p:cNvSpPr/>
          <p:nvPr/>
        </p:nvSpPr>
        <p:spPr>
          <a:xfrm>
            <a:off x="8217408" y="1371600"/>
            <a:ext cx="3514344" cy="44805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46008" y="1508760"/>
            <a:ext cx="3057144" cy="548640"/>
          </a:xfrm>
          <a:prstGeom prst="rect">
            <a:avLst/>
          </a:prstGeom>
          <a:noFill/>
        </p:spPr>
        <p:txBody>
          <a:bodyPr wrap="square" anchor="t" lIns="45720" rIns="45720">
            <a:spAutoFit/>
          </a:bodyPr>
          <a:lstStyle/>
          <a:p>
            <a:pPr algn="l"/>
            <a:r>
              <a:rPr sz="1800" b="1" i="0">
                <a:solidFill>
                  <a:srgbClr val="1C7293"/>
                </a:solidFill>
                <a:latin typeface="Cambria"/>
              </a:rPr>
              <a:t>The problem</a:t>
            </a:r>
          </a:p>
        </p:txBody>
      </p:sp>
      <p:sp>
        <p:nvSpPr>
          <p:cNvPr id="11" name="TextBox 10"/>
          <p:cNvSpPr txBox="1"/>
          <p:nvPr/>
        </p:nvSpPr>
        <p:spPr>
          <a:xfrm>
            <a:off x="8446008" y="2103120"/>
            <a:ext cx="3057144" cy="3657600"/>
          </a:xfrm>
          <a:prstGeom prst="rect">
            <a:avLst/>
          </a:prstGeom>
          <a:noFill/>
        </p:spPr>
        <p:txBody>
          <a:bodyPr wrap="square">
            <a:spAutoFit/>
          </a:bodyPr>
          <a:lstStyle/>
          <a:p>
            <a:pPr>
              <a:spcAft>
                <a:spcPts val="600"/>
              </a:spcAft>
            </a:pPr>
            <a:r>
              <a:rPr sz="1400" b="0">
                <a:solidFill>
                  <a:srgbClr val="0B0B0B"/>
                </a:solidFill>
                <a:latin typeface="Calibri"/>
              </a:rPr>
              <a:t>•  The sum a is set by the level of R_rs and is well constrained</a:t>
            </a:r>
          </a:p>
          <a:p>
            <a:pPr>
              <a:spcAft>
                <a:spcPts val="600"/>
              </a:spcAft>
            </a:pPr>
            <a:r>
              <a:rPr sz="1400" b="0">
                <a:solidFill>
                  <a:srgbClr val="0B0B0B"/>
                </a:solidFill>
                <a:latin typeface="Calibri"/>
              </a:rPr>
              <a:t>•  The split a_ph vs a_dg is set only by spectral shape</a:t>
            </a:r>
          </a:p>
          <a:p>
            <a:pPr>
              <a:spcAft>
                <a:spcPts val="600"/>
              </a:spcAft>
            </a:pPr>
            <a:r>
              <a:rPr sz="1400" b="0">
                <a:solidFill>
                  <a:srgbClr val="0B0B0B"/>
                </a:solidFill>
                <a:latin typeface="Calibri"/>
              </a:rPr>
              <a:t>•  Three to six numbers per pixel must be pulled from one spectrum</a:t>
            </a:r>
          </a:p>
        </p:txBody>
      </p:sp>
      <p:sp>
        <p:nvSpPr>
          <p:cNvPr id="12" name="TextBox 11"/>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 /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How the field solves it: a frozen physics plus a parameterization</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Gordon (1988): the semi-analytical shortcut</a:t>
            </a:r>
          </a:p>
          <a:p>
            <a:pPr>
              <a:spcAft>
                <a:spcPts val="600"/>
              </a:spcAft>
            </a:pPr>
            <a:r>
              <a:rPr sz="1500" b="0">
                <a:solidFill>
                  <a:srgbClr val="0B0B0B"/>
                </a:solidFill>
                <a:latin typeface="Calibri"/>
              </a:rPr>
              <a:t>•  Sub-surface reflectance ≈ g₁u + g₂u²,  u = b_b/(a+b_b)</a:t>
            </a:r>
          </a:p>
          <a:p>
            <a:pPr>
              <a:spcAft>
                <a:spcPts val="600"/>
              </a:spcAft>
            </a:pPr>
            <a:r>
              <a:rPr sz="1500" b="0">
                <a:solidFill>
                  <a:srgbClr val="0B0B0B"/>
                </a:solidFill>
                <a:latin typeface="Calibri"/>
              </a:rPr>
              <a:t>•  Two coefficients, fitted once to a Monte Carlo ensemble, used by every retrieval since</a:t>
            </a:r>
          </a:p>
          <a:p>
            <a:pPr>
              <a:spcAft>
                <a:spcPts val="600"/>
              </a:spcAft>
            </a:pPr>
            <a:r>
              <a:rPr sz="1500" b="1">
                <a:solidFill>
                  <a:srgbClr val="0B0B0B"/>
                </a:solidFill>
                <a:latin typeface="Calibri"/>
              </a:rPr>
              <a:t>•  GIOP (Werdell+2013), GSM (Maritorena+2002)</a:t>
            </a:r>
          </a:p>
          <a:p>
            <a:pPr>
              <a:spcAft>
                <a:spcPts val="600"/>
              </a:spcAft>
            </a:pPr>
            <a:r>
              <a:rPr sz="1500" b="0">
                <a:solidFill>
                  <a:srgbClr val="0B0B0B"/>
                </a:solidFill>
                <a:latin typeface="Calibri"/>
              </a:rPr>
              <a:t>•  exponential a_dg, fixed-shape a_ph, power-law b_bp; least squares</a:t>
            </a:r>
          </a:p>
          <a:p>
            <a:pPr>
              <a:spcAft>
                <a:spcPts val="600"/>
              </a:spcAft>
            </a:pPr>
            <a:r>
              <a:rPr sz="1500" b="1">
                <a:solidFill>
                  <a:srgbClr val="0B0B0B"/>
                </a:solidFill>
                <a:latin typeface="Calibri"/>
              </a:rPr>
              <a:t>•  QAA (Lee+2002): algebraic inversion instead of a fit</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BING (Prochaska &amp; Frouin 2025) — inherited, not a thesis contribution</a:t>
            </a:r>
          </a:p>
          <a:p>
            <a:pPr>
              <a:spcAft>
                <a:spcPts val="600"/>
              </a:spcAft>
            </a:pPr>
            <a:r>
              <a:rPr sz="1500" b="0">
                <a:solidFill>
                  <a:srgbClr val="0B0B0B"/>
                </a:solidFill>
                <a:latin typeface="Calibri"/>
              </a:rPr>
              <a:t>•  Same relation, same parameterizations, Bayesian posterior by MCMC</a:t>
            </a:r>
          </a:p>
          <a:p>
            <a:pPr>
              <a:spcAft>
                <a:spcPts val="600"/>
              </a:spcAft>
            </a:pPr>
            <a:r>
              <a:rPr sz="1500" b="0">
                <a:solidFill>
                  <a:srgbClr val="0B0B0B"/>
                </a:solidFill>
                <a:latin typeface="Calibri"/>
              </a:rPr>
              <a:t>•  Every retrieved quantity carries an uncertainty; models compared by evidence</a:t>
            </a:r>
          </a:p>
          <a:p>
            <a:pPr>
              <a:spcAft>
                <a:spcPts val="600"/>
              </a:spcAft>
            </a:pPr>
            <a:r>
              <a:rPr sz="1500" b="1">
                <a:solidFill>
                  <a:srgbClr val="0B0B0B"/>
                </a:solidFill>
                <a:latin typeface="Calibri"/>
              </a:rPr>
              <a:t>•  What this thesis adds to BING (2026)</a:t>
            </a:r>
          </a:p>
          <a:p>
            <a:pPr>
              <a:spcAft>
                <a:spcPts val="600"/>
              </a:spcAft>
            </a:pPr>
            <a:r>
              <a:rPr sz="1500" b="0">
                <a:solidFill>
                  <a:srgbClr val="0B0B0B"/>
                </a:solidFill>
                <a:latin typeface="Calibri"/>
              </a:rPr>
              <a:t>•  a selectable radiative-transfer backend, free B_p, viewing geometry, inelastic terms fixed and validated, three turbid-water b_bp models</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4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Gordon et al. 1988; Werdell et al. 2013; Maritorena et al. 2002; Lee et al. 2002; Prochaska &amp; Frouin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822960"/>
            <a:ext cx="10698480" cy="1463040"/>
          </a:xfrm>
          <a:prstGeom prst="rect">
            <a:avLst/>
          </a:prstGeom>
          <a:noFill/>
        </p:spPr>
        <p:txBody>
          <a:bodyPr wrap="square" anchor="t" lIns="45720" rIns="45720">
            <a:spAutoFit/>
          </a:bodyPr>
          <a:lstStyle/>
          <a:p>
            <a:pPr algn="l"/>
            <a:r>
              <a:rPr sz="3400" b="1" i="0">
                <a:solidFill>
                  <a:srgbClr val="FFFFFF"/>
                </a:solidFill>
                <a:latin typeface="Cambria"/>
              </a:rPr>
              <a:t>The claim, in the language of component separation</a:t>
            </a:r>
          </a:p>
        </p:txBody>
      </p:sp>
      <p:sp>
        <p:nvSpPr>
          <p:cNvPr id="3" name="TextBox 2"/>
          <p:cNvSpPr txBox="1"/>
          <p:nvPr/>
        </p:nvSpPr>
        <p:spPr>
          <a:xfrm>
            <a:off x="731520" y="2286000"/>
            <a:ext cx="10698480" cy="731520"/>
          </a:xfrm>
          <a:prstGeom prst="rect">
            <a:avLst/>
          </a:prstGeom>
          <a:noFill/>
        </p:spPr>
        <p:txBody>
          <a:bodyPr wrap="square" anchor="t" lIns="45720" rIns="45720">
            <a:spAutoFit/>
          </a:bodyPr>
          <a:lstStyle/>
          <a:p>
            <a:pPr algn="l"/>
            <a:r>
              <a:rPr sz="1800" b="0" i="0">
                <a:solidFill>
                  <a:srgbClr val="CADCFC"/>
                </a:solidFill>
                <a:latin typeface="Calibri"/>
              </a:rPr>
              <a:t>Physics error is removable; what remains is the parameterization</a:t>
            </a:r>
          </a:p>
        </p:txBody>
      </p:sp>
      <p:sp>
        <p:nvSpPr>
          <p:cNvPr id="4" name="TextBox 3"/>
          <p:cNvSpPr txBox="1"/>
          <p:nvPr/>
        </p:nvSpPr>
        <p:spPr>
          <a:xfrm>
            <a:off x="731520" y="3108960"/>
            <a:ext cx="10698480" cy="3108960"/>
          </a:xfrm>
          <a:prstGeom prst="rect">
            <a:avLst/>
          </a:prstGeom>
          <a:noFill/>
        </p:spPr>
        <p:txBody>
          <a:bodyPr wrap="square" anchor="t" lIns="45720" rIns="45720">
            <a:spAutoFit/>
          </a:bodyPr>
          <a:lstStyle/>
          <a:p>
            <a:pPr algn="l"/>
            <a:r>
              <a:rPr sz="1800" b="0" i="0">
                <a:solidFill>
                  <a:srgbClr val="FFFFFF"/>
                </a:solidFill>
                <a:latin typeface="Calibri"/>
              </a:rPr>
              <a:t>Two spectral components whose SUM is well determined have a SPLIT that is not.</a:t>
            </a:r>
          </a:p>
          <a:p>
            <a:pPr algn="l"/>
            <a:r>
              <a:rPr sz="1800" b="0" i="0">
                <a:solidFill>
                  <a:srgbClr val="FFFFFF"/>
                </a:solidFill>
                <a:latin typeface="Calibri"/>
              </a:rPr>
              <a:t>Before the degeneracy can be blamed on the parameterization, the forward model must be shown accurate enough not to be the cause.</a:t>
            </a:r>
          </a:p>
          <a:p>
            <a:pPr algn="l"/>
            <a:r>
              <a:rPr sz="1800" b="0" i="0">
                <a:solidFill>
                  <a:srgbClr val="FFFFFF"/>
                </a:solidFill>
                <a:latin typeface="Calibri"/>
              </a:rPr>
              <a:t>Structurally the same problem as separating dust attenuation from stellar age in an SED fit — named once, then dropped.</a:t>
            </a:r>
          </a:p>
          <a:p>
            <a:pPr algn="l"/>
            <a:r>
              <a:rPr sz="1800" b="0" i="0">
                <a:solidFill>
                  <a:srgbClr val="FFFFFF"/>
                </a:solidFill>
                <a:latin typeface="Calibri"/>
              </a:rPr>
              <a:t/>
            </a:r>
          </a:p>
          <a:p>
            <a:pPr algn="l"/>
            <a:r>
              <a:rPr sz="1800" b="0" i="0">
                <a:solidFill>
                  <a:srgbClr val="FFFFFF"/>
                </a:solidFill>
                <a:latin typeface="Calibri"/>
              </a:rPr>
              <a:t>Semi-analytical retrieval of ocean inherent optical properties fails in two separable ways. Forward-model (physics) error is identifiable and removable with a sufficiently accurate differentiable radiative-transfer model; once it is removed, the residual error is parameterization error, concentrated in the split of absorption between phytoplankton and CDOM + detritus.</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C3C2B7"/>
                </a:solidFill>
                <a:latin typeface="Calibri"/>
              </a:rPr>
              <a:t>5 /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Four projects, six chapters, and who did what</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Ch 2  retrieve-or-bust — the differentiable forward model (robust.rt)</a:t>
            </a:r>
          </a:p>
          <a:p>
            <a:pPr>
              <a:spcAft>
                <a:spcPts val="600"/>
              </a:spcAft>
            </a:pPr>
            <a:r>
              <a:rPr sz="1500" b="1">
                <a:solidFill>
                  <a:srgbClr val="0B0B0B"/>
                </a:solidFill>
                <a:latin typeface="Calibri"/>
              </a:rPr>
              <a:t>•  Ch 3  IOPtics — the separation: RT ladder + benchmark on L23, PANGAEA, GLORIA</a:t>
            </a:r>
          </a:p>
          <a:p>
            <a:pPr>
              <a:spcAft>
                <a:spcPts val="600"/>
              </a:spcAft>
            </a:pPr>
            <a:r>
              <a:rPr sz="1500" b="1">
                <a:solidFill>
                  <a:srgbClr val="0B0B0B"/>
                </a:solidFill>
                <a:latin typeface="Calibri"/>
              </a:rPr>
              <a:t>•  Ch 4  EPFT-UP — MOANA reimplemented: parameterization transfer one level up</a:t>
            </a:r>
          </a:p>
          <a:p>
            <a:pPr>
              <a:spcAft>
                <a:spcPts val="600"/>
              </a:spcAft>
            </a:pPr>
            <a:r>
              <a:rPr sz="1500" b="1">
                <a:solidFill>
                  <a:srgbClr val="0B0B0B"/>
                </a:solidFill>
                <a:latin typeface="Calibri"/>
              </a:rPr>
              <a:t>•  Ch 5  PAB — PACE vs BGC-Argo at mission scale (14,610 matchups)</a:t>
            </a:r>
          </a:p>
          <a:p>
            <a:pPr>
              <a:spcAft>
                <a:spcPts val="600"/>
              </a:spcAft>
            </a:pPr>
            <a:r>
              <a:rPr sz="1500" b="0">
                <a:solidFill>
                  <a:srgbClr val="0B0B0B"/>
                </a:solidFill>
                <a:latin typeface="Calibri"/>
              </a:rPr>
              <a:t>•  Ch 1 and 6: introduction and conclusions</a:t>
            </a:r>
          </a:p>
          <a:p>
            <a:pPr>
              <a:spcAft>
                <a:spcPts val="600"/>
              </a:spcAft>
            </a:pPr>
            <a:r>
              <a:rPr sz="1500" b="0">
                <a:solidFill>
                  <a:srgbClr val="0B0B0B"/>
                </a:solidFill>
                <a:latin typeface="Calibri"/>
              </a:rPr>
              <a:t>•  Excluded by the advisor: the bbp700 validation (a collaborator's), the RoB inversion, information content as frame</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The candidate did not choose the problems; the advisor set them and holds a veto</a:t>
            </a:r>
          </a:p>
          <a:p>
            <a:pPr>
              <a:spcAft>
                <a:spcPts val="600"/>
              </a:spcAft>
            </a:pPr>
            <a:r>
              <a:rPr sz="1500" b="1">
                <a:solidFill>
                  <a:srgbClr val="0B0B0B"/>
                </a:solidFill>
                <a:latin typeface="Calibri"/>
              </a:rPr>
              <a:t>•  The candidate wrote the code, ran the analyses, drafted every report</a:t>
            </a:r>
          </a:p>
          <a:p>
            <a:pPr>
              <a:spcAft>
                <a:spcPts val="600"/>
              </a:spcAft>
            </a:pPr>
            <a:r>
              <a:rPr sz="1500" b="1">
                <a:solidFill>
                  <a:srgbClr val="0B0B0B"/>
                </a:solidFill>
                <a:latin typeface="Calibri"/>
              </a:rPr>
              <a:t>•  The advisor wrote the questions, judged the answers, ran every git command</a:t>
            </a:r>
          </a:p>
          <a:p>
            <a:pPr>
              <a:spcAft>
                <a:spcPts val="600"/>
              </a:spcAft>
            </a:pPr>
            <a:r>
              <a:rPr sz="1500" b="0">
                <a:solidFill>
                  <a:srgbClr val="0B0B0B"/>
                </a:solidFill>
                <a:latin typeface="Calibri"/>
              </a:rPr>
              <a:t>•  About 530 dated session logs across four repositories since 2026-06-15</a:t>
            </a:r>
          </a:p>
          <a:p>
            <a:pPr>
              <a:spcAft>
                <a:spcPts val="600"/>
              </a:spcAft>
            </a:pPr>
            <a:r>
              <a:rPr sz="1500" b="0">
                <a:solidFill>
                  <a:srgbClr val="0B0B0B"/>
                </a:solidFill>
                <a:latin typeface="Calibri"/>
              </a:rPr>
              <a:t>•  Every number in this talk traces to one of them; every citation resolves to a path, branch and commit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6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claudes-phd-thesis: claude_prompts/, reports/citation_manifest.md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Chapter 2 — a forward model accurate enough to be blamed for nothing</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Hybrid: analytic backbone × (1 + δ)</a:t>
            </a:r>
          </a:p>
          <a:p>
            <a:pPr>
              <a:spcAft>
                <a:spcPts val="600"/>
              </a:spcAft>
            </a:pPr>
            <a:r>
              <a:rPr sz="1500" b="0">
                <a:solidFill>
                  <a:srgbClr val="0B0B0B"/>
                </a:solidFill>
                <a:latin typeface="Calibri"/>
              </a:rPr>
              <a:t>•  Backbone: Zaneveld / Twardowski–Tonizzo (ZTT) analytic model</a:t>
            </a:r>
          </a:p>
          <a:p>
            <a:pPr>
              <a:spcAft>
                <a:spcPts val="600"/>
              </a:spcAft>
            </a:pPr>
            <a:r>
              <a:rPr sz="1500" b="0">
                <a:solidFill>
                  <a:srgbClr val="0B0B0B"/>
                </a:solidFill>
                <a:latin typeface="Calibri"/>
              </a:rPr>
              <a:t>•  δ: a 417-parameter neural correction trained on HydroLight</a:t>
            </a:r>
          </a:p>
          <a:p>
            <a:pPr>
              <a:spcAft>
                <a:spcPts val="600"/>
              </a:spcAft>
            </a:pPr>
            <a:r>
              <a:rPr sz="1500" b="0">
                <a:solidFill>
                  <a:srgbClr val="0B0B0B"/>
                </a:solidFill>
                <a:latin typeface="Calibri"/>
              </a:rPr>
              <a:t>•  Written in JAX — differentiable end to end, callable inside an MCMC likelihood</a:t>
            </a:r>
          </a:p>
          <a:p>
            <a:pPr>
              <a:spcAft>
                <a:spcPts val="600"/>
              </a:spcAft>
            </a:pPr>
            <a:r>
              <a:rPr sz="1500" b="1">
                <a:solidFill>
                  <a:srgbClr val="0B0B0B"/>
                </a:solidFill>
                <a:latin typeface="Calibri"/>
              </a:rPr>
              <a:t>•  Training set: L23</a:t>
            </a:r>
          </a:p>
          <a:p>
            <a:pPr>
              <a:spcAft>
                <a:spcPts val="600"/>
              </a:spcAft>
            </a:pPr>
            <a:r>
              <a:rPr sz="1500" b="0">
                <a:solidFill>
                  <a:srgbClr val="0B0B0B"/>
                </a:solidFill>
                <a:latin typeface="Calibri"/>
              </a:rPr>
              <a:t>•  3,320 HydroLight water bodies × 81 wavelengths (350–750 nm) × 3 solar zeniths (0°, 30°, 60°)</a:t>
            </a:r>
          </a:p>
          <a:p>
            <a:pPr>
              <a:spcAft>
                <a:spcPts val="600"/>
              </a:spcAft>
            </a:pPr>
            <a:r>
              <a:rPr sz="1500" b="0">
                <a:solidFill>
                  <a:srgbClr val="0B0B0B"/>
                </a:solidFill>
                <a:latin typeface="Calibri"/>
              </a:rPr>
              <a:t>•  Held out: 20 % of bodies; and a whole zenith</a:t>
            </a:r>
          </a:p>
        </p:txBody>
      </p:sp>
      <p:sp>
        <p:nvSpPr>
          <p:cNvPr id="4" name="Rounded Rectangle 3"/>
          <p:cNvSpPr/>
          <p:nvPr/>
        </p:nvSpPr>
        <p:spPr>
          <a:xfrm>
            <a:off x="6277356" y="1463040"/>
            <a:ext cx="5454396"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14516" y="1600200"/>
            <a:ext cx="5180076" cy="914400"/>
          </a:xfrm>
          <a:prstGeom prst="rect">
            <a:avLst/>
          </a:prstGeom>
          <a:noFill/>
        </p:spPr>
        <p:txBody>
          <a:bodyPr wrap="square" anchor="ctr" lIns="45720" rIns="45720">
            <a:spAutoFit/>
          </a:bodyPr>
          <a:lstStyle/>
          <a:p>
            <a:pPr algn="ctr"/>
            <a:r>
              <a:rPr sz="4400" b="1" i="0">
                <a:solidFill>
                  <a:srgbClr val="1C7293"/>
                </a:solidFill>
                <a:latin typeface="Cambria"/>
              </a:rPr>
              <a:t>0.30 %</a:t>
            </a:r>
          </a:p>
        </p:txBody>
      </p:sp>
      <p:sp>
        <p:nvSpPr>
          <p:cNvPr id="6" name="TextBox 5"/>
          <p:cNvSpPr txBox="1"/>
          <p:nvPr/>
        </p:nvSpPr>
        <p:spPr>
          <a:xfrm>
            <a:off x="6414516" y="2468880"/>
            <a:ext cx="5180076" cy="640080"/>
          </a:xfrm>
          <a:prstGeom prst="rect">
            <a:avLst/>
          </a:prstGeom>
          <a:noFill/>
        </p:spPr>
        <p:txBody>
          <a:bodyPr wrap="square" anchor="t" lIns="45720" rIns="45720">
            <a:spAutoFit/>
          </a:bodyPr>
          <a:lstStyle/>
          <a:p>
            <a:pPr algn="ctr"/>
            <a:r>
              <a:rPr sz="1300" b="0" i="0">
                <a:solidFill>
                  <a:srgbClr val="52514E"/>
                </a:solidFill>
                <a:latin typeface="Calibri"/>
              </a:rPr>
              <a:t>relative RMS error of modelled R_rs against HydroLight on held-out water bodies</a:t>
            </a:r>
          </a:p>
        </p:txBody>
      </p:sp>
      <p:sp>
        <p:nvSpPr>
          <p:cNvPr id="7" name="TextBox 6"/>
          <p:cNvSpPr txBox="1"/>
          <p:nvPr/>
        </p:nvSpPr>
        <p:spPr>
          <a:xfrm>
            <a:off x="6277356" y="3383280"/>
            <a:ext cx="5454396" cy="2468880"/>
          </a:xfrm>
          <a:prstGeom prst="rect">
            <a:avLst/>
          </a:prstGeom>
          <a:noFill/>
        </p:spPr>
        <p:txBody>
          <a:bodyPr wrap="square">
            <a:spAutoFit/>
          </a:bodyPr>
          <a:lstStyle/>
          <a:p>
            <a:pPr>
              <a:spcAft>
                <a:spcPts val="600"/>
              </a:spcAft>
            </a:pPr>
            <a:r>
              <a:rPr sz="1400" b="0">
                <a:solidFill>
                  <a:srgbClr val="0B0B0B"/>
                </a:solidFill>
                <a:latin typeface="Calibri"/>
              </a:rPr>
              <a:t>•  2.3× better than the best published semi-analytical form refit on the same data</a:t>
            </a:r>
          </a:p>
          <a:p>
            <a:pPr>
              <a:spcAft>
                <a:spcPts val="600"/>
              </a:spcAft>
            </a:pPr>
            <a:r>
              <a:rPr sz="1400" b="0">
                <a:solidFill>
                  <a:srgbClr val="0B0B0B"/>
                </a:solidFill>
                <a:latin typeface="Calibri"/>
              </a:rPr>
              <a:t>•  24× better than the Gordon relation</a:t>
            </a:r>
          </a:p>
          <a:p>
            <a:pPr>
              <a:spcAft>
                <a:spcPts val="600"/>
              </a:spcAft>
            </a:pPr>
            <a:r>
              <a:rPr sz="1400" b="0">
                <a:solidFill>
                  <a:srgbClr val="0B0B0B"/>
                </a:solidFill>
                <a:latin typeface="Calibri"/>
              </a:rPr>
              <a:t>•  exact gradients: agree with finite differences to 5×10⁻⁹</a:t>
            </a:r>
          </a:p>
        </p:txBody>
      </p:sp>
      <p:sp>
        <p:nvSpPr>
          <p:cNvPr id="8" name="TextBox 7"/>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7 / 40</a:t>
            </a:r>
          </a:p>
        </p:txBody>
      </p:sp>
      <p:sp>
        <p:nvSpPr>
          <p:cNvPr id="9" name="TextBox 8"/>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retrieve-or-bust reports: report_rt_elastic_model.md v1.0 (2026-08-15), report_rt_inelastic_model.md v1.0 (2026-08-27)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Forward-model accuracy: from 7 % (Gordon) to 0.3 % (hybrid)</a:t>
            </a:r>
          </a:p>
        </p:txBody>
      </p:sp>
      <p:pic>
        <p:nvPicPr>
          <p:cNvPr id="3" name="Picture 2" descr="fig02_forward_model_ladder.png"/>
          <p:cNvPicPr>
            <a:picLocks noChangeAspect="1"/>
          </p:cNvPicPr>
          <p:nvPr/>
        </p:nvPicPr>
        <p:blipFill>
          <a:blip r:embed="rId2"/>
          <a:stretch>
            <a:fillRect/>
          </a:stretch>
        </p:blipFill>
        <p:spPr>
          <a:xfrm>
            <a:off x="2145930" y="1188720"/>
            <a:ext cx="7897090" cy="457200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The forward-model error term can be driven small enough that whatever retrieval error remains is not the physics.</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8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retrieve-or-bust reports: report_rt_elastic_model.md v1.0 (2026-08-15), report_rt_inelastic_model.md v1.0 (2026-08-27); design/validation/rrms_per_wavelength.csv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Inelastic light is 15–20 % of the red-end signal an elastic model cannot fit</a:t>
            </a:r>
          </a:p>
        </p:txBody>
      </p:sp>
      <p:pic>
        <p:nvPicPr>
          <p:cNvPr id="3" name="Picture 2" descr="fig03_inelastic_terms.png"/>
          <p:cNvPicPr>
            <a:picLocks noChangeAspect="1"/>
          </p:cNvPicPr>
          <p:nvPr/>
        </p:nvPicPr>
        <p:blipFill>
          <a:blip r:embed="rId2"/>
          <a:stretch>
            <a:fillRect/>
          </a:stretch>
        </p:blipFill>
        <p:spPr>
          <a:xfrm>
            <a:off x="2148701" y="1188720"/>
            <a:ext cx="7891549" cy="457200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Raman scattering and chlorophyll fluorescence re-emit light; with analytic terms the error is 2–4 %, with trained correction heads 0.34 %.</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9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retrieve-or-bust reports: report_rt_elastic_model.md v1.0 (2026-08-15), report_rt_inelastic_model.md v1.0 (2026-08-27); design/validation/rrms_per_wavelength_inelastic.csv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The forward model owns its edges</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Solar zenith: trained at 0°, 30°, 60°; nadir view only</a:t>
            </a:r>
          </a:p>
          <a:p>
            <a:pPr>
              <a:spcAft>
                <a:spcPts val="600"/>
              </a:spcAft>
            </a:pPr>
            <a:r>
              <a:rPr sz="1500" b="0">
                <a:solidFill>
                  <a:srgbClr val="0B0B0B"/>
                </a:solidFill>
                <a:latin typeface="Calibri"/>
              </a:rPr>
              <a:t>•  Held-out zenith: 4.7–12.2 % (elastic), −74 % on the Raman head (inelastic)</a:t>
            </a:r>
          </a:p>
          <a:p>
            <a:pPr>
              <a:spcAft>
                <a:spcPts val="600"/>
              </a:spcAft>
            </a:pPr>
            <a:r>
              <a:rPr sz="1500" b="1">
                <a:solidFill>
                  <a:srgbClr val="0B0B0B"/>
                </a:solidFill>
                <a:latin typeface="Calibri"/>
              </a:rPr>
              <a:t>•  Phase function: L23 spans only 1.7× in B_p — generalisation untested</a:t>
            </a:r>
          </a:p>
          <a:p>
            <a:pPr>
              <a:spcAft>
                <a:spcPts val="600"/>
              </a:spcAft>
            </a:pPr>
            <a:r>
              <a:rPr sz="1500" b="1">
                <a:solidFill>
                  <a:srgbClr val="0B0B0B"/>
                </a:solidFill>
                <a:latin typeface="Calibri"/>
              </a:rPr>
              <a:t>•  CDOM fluorescence: implemented, unvalidated — no HydroLight truth contains it</a:t>
            </a:r>
          </a:p>
          <a:p>
            <a:pPr>
              <a:spcAft>
                <a:spcPts val="600"/>
              </a:spcAft>
            </a:pPr>
            <a:r>
              <a:rPr sz="1500" b="1">
                <a:solidFill>
                  <a:srgbClr val="0B0B0B"/>
                </a:solidFill>
                <a:latin typeface="Calibri"/>
              </a:rPr>
              <a:t>•  Off-nadir saturation bug found 2026-09-15 while PAB 2.0 exercised it; fixed</a:t>
            </a:r>
          </a:p>
          <a:p>
            <a:pPr>
              <a:spcAft>
                <a:spcPts val="600"/>
              </a:spcAft>
            </a:pPr>
            <a:r>
              <a:rPr sz="1500" b="0">
                <a:solidFill>
                  <a:srgbClr val="0B0B0B"/>
                </a:solidFill>
                <a:latin typeface="Calibri"/>
              </a:rPr>
              <a:t>•  Every sweep in this talk states which of these it is inside</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What the forward model is NOT</a:t>
            </a:r>
          </a:p>
          <a:p>
            <a:pPr>
              <a:spcAft>
                <a:spcPts val="600"/>
              </a:spcAft>
            </a:pPr>
            <a:r>
              <a:rPr sz="1500" b="0">
                <a:solidFill>
                  <a:srgbClr val="0B0B0B"/>
                </a:solidFill>
                <a:latin typeface="Calibri"/>
              </a:rPr>
              <a:t>•  It is not a retrieval.  The retrieve-or-bust inversion does not exist yet</a:t>
            </a:r>
          </a:p>
          <a:p>
            <a:pPr>
              <a:spcAft>
                <a:spcPts val="600"/>
              </a:spcAft>
            </a:pPr>
            <a:r>
              <a:rPr sz="1500" b="0">
                <a:solidFill>
                  <a:srgbClr val="0B0B0B"/>
                </a:solidFill>
                <a:latin typeface="Calibri"/>
              </a:rPr>
              <a:t>•  "nothing on this site may be read as evidence that IOPs can be retrieved" — RoB docs</a:t>
            </a:r>
          </a:p>
          <a:p>
            <a:pPr>
              <a:spcAft>
                <a:spcPts val="600"/>
              </a:spcAft>
            </a:pPr>
            <a:r>
              <a:rPr sz="1500" b="0">
                <a:solidFill>
                  <a:srgbClr val="0B0B0B"/>
                </a:solidFill>
                <a:latin typeface="Calibri"/>
              </a:rPr>
              <a:t>•  The inversion belongs to a seven-person collaboration and is not anticipated here</a:t>
            </a:r>
          </a:p>
          <a:p>
            <a:pPr>
              <a:spcAft>
                <a:spcPts val="600"/>
              </a:spcAft>
            </a:pPr>
            <a:r>
              <a:rPr sz="1500" b="1">
                <a:solidFill>
                  <a:srgbClr val="0B0B0B"/>
                </a:solidFill>
                <a:latin typeface="Calibri"/>
              </a:rPr>
              <a:t>•  What this thesis claims</a:t>
            </a:r>
          </a:p>
          <a:p>
            <a:pPr>
              <a:spcAft>
                <a:spcPts val="600"/>
              </a:spcAft>
            </a:pPr>
            <a:r>
              <a:rPr sz="1500" b="0">
                <a:solidFill>
                  <a:srgbClr val="0B0B0B"/>
                </a:solidFill>
                <a:latin typeface="Calibri"/>
              </a:rPr>
              <a:t>•  The forward model, its validation, and its use inside BING as a physics backend</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10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retrieve-or-bust reports: report_rt_elastic_model.md v1.0 (2026-08-15), report_rt_inelastic_model.md v1.0 (2026-08-27); docs/using/limitations.md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Extensions to BING made during the thesis</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Radiative-transfer backend</a:t>
            </a:r>
          </a:p>
          <a:p>
            <a:pPr>
              <a:spcAft>
                <a:spcPts val="600"/>
              </a:spcAft>
            </a:pPr>
            <a:r>
              <a:rPr sz="1500" b="0">
                <a:solidFill>
                  <a:srgbClr val="0B0B0B"/>
                </a:solidFill>
                <a:latin typeface="Calibri"/>
              </a:rPr>
              <a:t>•  rt_backend ∈ {gordon, robust_ztt, robust_hybrid}; per-observation viewing geometry; free B_p as a sixth parameter</a:t>
            </a:r>
          </a:p>
          <a:p>
            <a:pPr>
              <a:spcAft>
                <a:spcPts val="600"/>
              </a:spcAft>
            </a:pPr>
            <a:r>
              <a:rPr sz="1500" b="1">
                <a:solidFill>
                  <a:srgbClr val="0B0B0B"/>
                </a:solidFill>
                <a:latin typeface="Calibri"/>
              </a:rPr>
              <a:t>•  Inelastic terms fixed and anchored to L23</a:t>
            </a:r>
          </a:p>
          <a:p>
            <a:pPr>
              <a:spcAft>
                <a:spcPts val="600"/>
              </a:spcAft>
            </a:pPr>
            <a:r>
              <a:rPr sz="1500" b="0">
                <a:solidFill>
                  <a:srgbClr val="0B0B0B"/>
                </a:solidFill>
                <a:latin typeface="Calibri"/>
              </a:rPr>
              <a:t>•  a missing 1/π in the fluorescence normalisation and a flat E_d ratio in Raman: amplitudes had been ~π too large</a:t>
            </a:r>
          </a:p>
          <a:p>
            <a:pPr>
              <a:spcAft>
                <a:spcPts val="600"/>
              </a:spcAft>
            </a:pPr>
            <a:r>
              <a:rPr sz="1500" b="1">
                <a:solidFill>
                  <a:srgbClr val="0B0B0B"/>
                </a:solidFill>
                <a:latin typeface="Calibri"/>
              </a:rPr>
              <a:t>•  CDOM fluorescence path</a:t>
            </a:r>
          </a:p>
          <a:p>
            <a:pPr>
              <a:spcAft>
                <a:spcPts val="600"/>
              </a:spcAft>
            </a:pPr>
            <a:r>
              <a:rPr sz="1500" b="0">
                <a:solidFill>
                  <a:srgbClr val="0B0B0B"/>
                </a:solidFill>
                <a:latin typeface="Calibri"/>
              </a:rPr>
              <a:t>•  a_cdom = 0.8 × a_dg feeds the Hawes (1992) kernel — a fixed fraction, stated wherever used</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Three turbid-water b_bp models</a:t>
            </a:r>
          </a:p>
          <a:p>
            <a:pPr>
              <a:spcAft>
                <a:spcPts val="600"/>
              </a:spcAft>
            </a:pPr>
            <a:r>
              <a:rPr sz="1500" b="0">
                <a:solidFill>
                  <a:srgbClr val="0B0B0B"/>
                </a:solidFill>
                <a:latin typeface="Calibri"/>
              </a:rPr>
              <a:t>•  Pow2 (two power laws), Pow2Flat, PowFlex — built to answer GLORIA (slide 25)</a:t>
            </a:r>
          </a:p>
          <a:p>
            <a:pPr>
              <a:spcAft>
                <a:spcPts val="600"/>
              </a:spcAft>
            </a:pPr>
            <a:r>
              <a:rPr sz="1500" b="1">
                <a:solidFill>
                  <a:srgbClr val="0B0B0B"/>
                </a:solidFill>
                <a:latin typeface="Calibri"/>
              </a:rPr>
              <a:t>•  Where the attribution line falls</a:t>
            </a:r>
          </a:p>
          <a:p>
            <a:pPr>
              <a:spcAft>
                <a:spcPts val="600"/>
              </a:spcAft>
            </a:pPr>
            <a:r>
              <a:rPr sz="1500" b="0">
                <a:solidFill>
                  <a:srgbClr val="0B0B0B"/>
                </a:solidFill>
                <a:latin typeface="Calibri"/>
              </a:rPr>
              <a:t>•  BING as of the 2025 paper is inherited; the 2026 additions above are the thesis's, as plumbing for the new physics and as parameterization work</a:t>
            </a:r>
          </a:p>
          <a:p>
            <a:pPr>
              <a:spcAft>
                <a:spcPts val="600"/>
              </a:spcAft>
            </a:pPr>
            <a:r>
              <a:rPr sz="1500" b="1">
                <a:solidFill>
                  <a:srgbClr val="0B0B0B"/>
                </a:solidFill>
                <a:latin typeface="Calibri"/>
              </a:rPr>
              <a:t>•  Status</a:t>
            </a:r>
          </a:p>
          <a:p>
            <a:pPr>
              <a:spcAft>
                <a:spcPts val="600"/>
              </a:spcAft>
            </a:pPr>
            <a:r>
              <a:rPr sz="1500" b="0">
                <a:solidFill>
                  <a:srgbClr val="0B0B0B"/>
                </a:solidFill>
                <a:latin typeface="Calibri"/>
              </a:rPr>
              <a:t>•  on BING branches develop and rob_cdom; the advisor merges after submission</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11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bing docs/radiative_transfer.rst; claude_prompts/inelastic_fixes.md, turbid_waters.md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Chapter 3 — the RT ladder: one parameterization, five radiative transfers</a:t>
            </a:r>
          </a:p>
        </p:txBody>
      </p:sp>
      <p:graphicFrame>
        <p:nvGraphicFramePr>
          <p:cNvPr id="3" name="Table 2"/>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914400"/>
                <a:gridCol w="3931920"/>
                <a:gridCol w="6400800"/>
              </a:tblGrid>
              <a:tr h="365760">
                <a:tc>
                  <a:txBody>
                    <a:bodyPr/>
                    <a:lstStyle/>
                    <a:p>
                      <a:r>
                        <a:rPr sz="1500" b="1">
                          <a:solidFill>
                            <a:srgbClr val="FFFFFF"/>
                          </a:solidFill>
                          <a:latin typeface="Calibri"/>
                        </a:rPr>
                        <a:t>rung</a:t>
                      </a:r>
                    </a:p>
                  </a:txBody>
                  <a:tcPr>
                    <a:solidFill>
                      <a:srgbClr val="14213D"/>
                    </a:solidFill>
                  </a:tcPr>
                </a:tc>
                <a:tc>
                  <a:txBody>
                    <a:bodyPr/>
                    <a:lstStyle/>
                    <a:p>
                      <a:r>
                        <a:rPr sz="1500" b="1">
                          <a:solidFill>
                            <a:srgbClr val="FFFFFF"/>
                          </a:solidFill>
                          <a:latin typeface="Calibri"/>
                        </a:rPr>
                        <a:t>forward model</a:t>
                      </a:r>
                    </a:p>
                  </a:txBody>
                  <a:tcPr>
                    <a:solidFill>
                      <a:srgbClr val="14213D"/>
                    </a:solidFill>
                  </a:tcPr>
                </a:tc>
                <a:tc>
                  <a:txBody>
                    <a:bodyPr/>
                    <a:lstStyle/>
                    <a:p>
                      <a:r>
                        <a:rPr sz="1500" b="1">
                          <a:solidFill>
                            <a:srgbClr val="FFFFFF"/>
                          </a:solidFill>
                          <a:latin typeface="Calibri"/>
                        </a:rPr>
                        <a:t>what changes</a:t>
                      </a:r>
                    </a:p>
                  </a:txBody>
                  <a:tcPr>
                    <a:solidFill>
                      <a:srgbClr val="14213D"/>
                    </a:solidFill>
                  </a:tcPr>
                </a:tc>
              </a:tr>
              <a:tr h="365760">
                <a:tc>
                  <a:txBody>
                    <a:bodyPr/>
                    <a:lstStyle/>
                    <a:p>
                      <a:r>
                        <a:rPr sz="1500">
                          <a:solidFill>
                            <a:srgbClr val="0B0B0B"/>
                          </a:solidFill>
                          <a:latin typeface="Calibri"/>
                        </a:rPr>
                        <a:t>1</a:t>
                      </a:r>
                    </a:p>
                  </a:txBody>
                  <a:tcPr>
                    <a:solidFill>
                      <a:srgbClr val="EEF3F8"/>
                    </a:solidFill>
                  </a:tcPr>
                </a:tc>
                <a:tc>
                  <a:txBody>
                    <a:bodyPr/>
                    <a:lstStyle/>
                    <a:p>
                      <a:r>
                        <a:rPr sz="1500">
                          <a:solidFill>
                            <a:srgbClr val="0B0B0B"/>
                          </a:solidFill>
                          <a:latin typeface="Calibri"/>
                        </a:rPr>
                        <a:t>elastic, analytic (ZTT)</a:t>
                      </a:r>
                    </a:p>
                  </a:txBody>
                  <a:tcPr>
                    <a:solidFill>
                      <a:srgbClr val="EEF3F8"/>
                    </a:solidFill>
                  </a:tcPr>
                </a:tc>
                <a:tc>
                  <a:txBody>
                    <a:bodyPr/>
                    <a:lstStyle/>
                    <a:p>
                      <a:r>
                        <a:rPr sz="1500">
                          <a:solidFill>
                            <a:srgbClr val="0B0B0B"/>
                          </a:solidFill>
                          <a:latin typeface="Calibri"/>
                        </a:rPr>
                        <a:t>the analytic backbone alone</a:t>
                      </a:r>
                    </a:p>
                  </a:txBody>
                  <a:tcPr>
                    <a:solidFill>
                      <a:srgbClr val="EEF3F8"/>
                    </a:solidFill>
                  </a:tcPr>
                </a:tc>
              </a:tr>
              <a:tr h="365760">
                <a:tc>
                  <a:txBody>
                    <a:bodyPr/>
                    <a:lstStyle/>
                    <a:p>
                      <a:r>
                        <a:rPr sz="1500">
                          <a:solidFill>
                            <a:srgbClr val="0B0B0B"/>
                          </a:solidFill>
                          <a:latin typeface="Calibri"/>
                        </a:rPr>
                        <a:t>2</a:t>
                      </a:r>
                    </a:p>
                  </a:txBody>
                  <a:tcPr>
                    <a:solidFill>
                      <a:srgbClr val="FFFFFF"/>
                    </a:solidFill>
                  </a:tcPr>
                </a:tc>
                <a:tc>
                  <a:txBody>
                    <a:bodyPr/>
                    <a:lstStyle/>
                    <a:p>
                      <a:r>
                        <a:rPr sz="1500">
                          <a:solidFill>
                            <a:srgbClr val="0B0B0B"/>
                          </a:solidFill>
                          <a:latin typeface="Calibri"/>
                        </a:rPr>
                        <a:t>elastic, hybrid</a:t>
                      </a:r>
                    </a:p>
                  </a:txBody>
                  <a:tcPr>
                    <a:solidFill>
                      <a:srgbClr val="FFFFFF"/>
                    </a:solidFill>
                  </a:tcPr>
                </a:tc>
                <a:tc>
                  <a:txBody>
                    <a:bodyPr/>
                    <a:lstStyle/>
                    <a:p>
                      <a:r>
                        <a:rPr sz="1500">
                          <a:solidFill>
                            <a:srgbClr val="0B0B0B"/>
                          </a:solidFill>
                          <a:latin typeface="Calibri"/>
                        </a:rPr>
                        <a:t>+ the trained emulator correction</a:t>
                      </a:r>
                    </a:p>
                  </a:txBody>
                  <a:tcPr>
                    <a:solidFill>
                      <a:srgbClr val="FFFFFF"/>
                    </a:solidFill>
                  </a:tcPr>
                </a:tc>
              </a:tr>
              <a:tr h="365760">
                <a:tc>
                  <a:txBody>
                    <a:bodyPr/>
                    <a:lstStyle/>
                    <a:p>
                      <a:r>
                        <a:rPr sz="1500">
                          <a:solidFill>
                            <a:srgbClr val="0B0B0B"/>
                          </a:solidFill>
                          <a:latin typeface="Calibri"/>
                        </a:rPr>
                        <a:t>3</a:t>
                      </a:r>
                    </a:p>
                  </a:txBody>
                  <a:tcPr>
                    <a:solidFill>
                      <a:srgbClr val="EEF3F8"/>
                    </a:solidFill>
                  </a:tcPr>
                </a:tc>
                <a:tc>
                  <a:txBody>
                    <a:bodyPr/>
                    <a:lstStyle/>
                    <a:p>
                      <a:r>
                        <a:rPr sz="1500">
                          <a:solidFill>
                            <a:srgbClr val="0B0B0B"/>
                          </a:solidFill>
                          <a:latin typeface="Calibri"/>
                        </a:rPr>
                        <a:t>+ Raman scattering</a:t>
                      </a:r>
                    </a:p>
                  </a:txBody>
                  <a:tcPr>
                    <a:solidFill>
                      <a:srgbClr val="EEF3F8"/>
                    </a:solidFill>
                  </a:tcPr>
                </a:tc>
                <a:tc>
                  <a:txBody>
                    <a:bodyPr/>
                    <a:lstStyle/>
                    <a:p>
                      <a:r>
                        <a:rPr sz="1500">
                          <a:solidFill>
                            <a:srgbClr val="0B0B0B"/>
                          </a:solidFill>
                          <a:latin typeface="Calibri"/>
                        </a:rPr>
                        <a:t>first inelastic process</a:t>
                      </a:r>
                    </a:p>
                  </a:txBody>
                  <a:tcPr>
                    <a:solidFill>
                      <a:srgbClr val="EEF3F8"/>
                    </a:solidFill>
                  </a:tcPr>
                </a:tc>
              </a:tr>
              <a:tr h="365760">
                <a:tc>
                  <a:txBody>
                    <a:bodyPr/>
                    <a:lstStyle/>
                    <a:p>
                      <a:r>
                        <a:rPr sz="1500">
                          <a:solidFill>
                            <a:srgbClr val="0B0B0B"/>
                          </a:solidFill>
                          <a:latin typeface="Calibri"/>
                        </a:rPr>
                        <a:t>4</a:t>
                      </a:r>
                    </a:p>
                  </a:txBody>
                  <a:tcPr>
                    <a:solidFill>
                      <a:srgbClr val="FFFFFF"/>
                    </a:solidFill>
                  </a:tcPr>
                </a:tc>
                <a:tc>
                  <a:txBody>
                    <a:bodyPr/>
                    <a:lstStyle/>
                    <a:p>
                      <a:r>
                        <a:rPr sz="1500">
                          <a:solidFill>
                            <a:srgbClr val="0B0B0B"/>
                          </a:solidFill>
                          <a:latin typeface="Calibri"/>
                        </a:rPr>
                        <a:t>+ chlorophyll fluorescence</a:t>
                      </a:r>
                    </a:p>
                  </a:txBody>
                  <a:tcPr>
                    <a:solidFill>
                      <a:srgbClr val="FFFFFF"/>
                    </a:solidFill>
                  </a:tcPr>
                </a:tc>
                <a:tc>
                  <a:txBody>
                    <a:bodyPr/>
                    <a:lstStyle/>
                    <a:p>
                      <a:r>
                        <a:rPr sz="1500">
                          <a:solidFill>
                            <a:srgbClr val="0B0B0B"/>
                          </a:solidFill>
                          <a:latin typeface="Calibri"/>
                        </a:rPr>
                        <a:t>second inelastic process (685 nm)</a:t>
                      </a:r>
                    </a:p>
                  </a:txBody>
                  <a:tcPr>
                    <a:solidFill>
                      <a:srgbClr val="FFFFFF"/>
                    </a:solidFill>
                  </a:tcPr>
                </a:tc>
              </a:tr>
              <a:tr h="365760">
                <a:tc>
                  <a:txBody>
                    <a:bodyPr/>
                    <a:lstStyle/>
                    <a:p>
                      <a:r>
                        <a:rPr sz="1500">
                          <a:solidFill>
                            <a:srgbClr val="0B0B0B"/>
                          </a:solidFill>
                          <a:latin typeface="Calibri"/>
                        </a:rPr>
                        <a:t>5</a:t>
                      </a:r>
                    </a:p>
                  </a:txBody>
                  <a:tcPr>
                    <a:solidFill>
                      <a:srgbClr val="EEF3F8"/>
                    </a:solidFill>
                  </a:tcPr>
                </a:tc>
                <a:tc>
                  <a:txBody>
                    <a:bodyPr/>
                    <a:lstStyle/>
                    <a:p>
                      <a:r>
                        <a:rPr sz="1500">
                          <a:solidFill>
                            <a:srgbClr val="0B0B0B"/>
                          </a:solidFill>
                          <a:latin typeface="Calibri"/>
                        </a:rPr>
                        <a:t>+ CDOM fluorescence</a:t>
                      </a:r>
                    </a:p>
                  </a:txBody>
                  <a:tcPr>
                    <a:solidFill>
                      <a:srgbClr val="EEF3F8"/>
                    </a:solidFill>
                  </a:tcPr>
                </a:tc>
                <a:tc>
                  <a:txBody>
                    <a:bodyPr/>
                    <a:lstStyle/>
                    <a:p>
                      <a:r>
                        <a:rPr sz="1500">
                          <a:solidFill>
                            <a:srgbClr val="0B0B0B"/>
                          </a:solidFill>
                          <a:latin typeface="Calibri"/>
                        </a:rPr>
                        <a:t>third, unvalidated; a_cdom = 0.8 a_dg</a:t>
                      </a:r>
                    </a:p>
                  </a:txBody>
                  <a:tcPr>
                    <a:solidFill>
                      <a:srgbClr val="EEF3F8"/>
                    </a:solidFill>
                  </a:tcPr>
                </a:tc>
              </a:tr>
            </a:tbl>
          </a:graphicData>
        </a:graphic>
      </p:graphicFrame>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Same parameterization (exp. a_dg + Bricaud a_ph + power-law b_bp + B_p), same priors, same noise, same spectra, full MCMC.  Three arms: 3,320 L23 bodies with truth (inelastic realization), 97 PANGAEA in-situ spectra with truth, 99 real PACE pixels without.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12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run_rta_l23.yaml, run_rta_pangaea.yaml, run_rtb.yaml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Why five rungs: each step switches on one physical process</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Rung 1 → 2: analytic backbone → hybrid</a:t>
            </a:r>
          </a:p>
          <a:p>
            <a:pPr>
              <a:spcAft>
                <a:spcPts val="600"/>
              </a:spcAft>
            </a:pPr>
            <a:r>
              <a:rPr sz="1400" b="0">
                <a:solidFill>
                  <a:srgbClr val="0B0B0B"/>
                </a:solidFill>
                <a:latin typeface="Calibri"/>
              </a:rPr>
              <a:t>•  the trained correction changes R_rs by 1.4–3.7 %; the control for everything the emulator does</a:t>
            </a:r>
          </a:p>
          <a:p>
            <a:pPr>
              <a:spcAft>
                <a:spcPts val="600"/>
              </a:spcAft>
            </a:pPr>
            <a:r>
              <a:rPr sz="1400" b="1">
                <a:solidFill>
                  <a:srgbClr val="0B0B0B"/>
                </a:solidFill>
                <a:latin typeface="Calibri"/>
              </a:rPr>
              <a:t>•  Rung 2 → 3: + Raman scattering</a:t>
            </a:r>
          </a:p>
          <a:p>
            <a:pPr>
              <a:spcAft>
                <a:spcPts val="600"/>
              </a:spcAft>
            </a:pPr>
            <a:r>
              <a:rPr sz="1400" b="0">
                <a:solidFill>
                  <a:srgbClr val="0B0B0B"/>
                </a:solidFill>
                <a:latin typeface="Calibri"/>
              </a:rPr>
              <a:t>•  inelastic light redistributed from blue to red; changes modelled R_rs by ~2 % of its maximum in the blue</a:t>
            </a:r>
          </a:p>
          <a:p>
            <a:pPr>
              <a:spcAft>
                <a:spcPts val="600"/>
              </a:spcAft>
            </a:pPr>
            <a:r>
              <a:rPr sz="1400" b="1">
                <a:solidFill>
                  <a:srgbClr val="0B0B0B"/>
                </a:solidFill>
                <a:latin typeface="Calibri"/>
              </a:rPr>
              <a:t>•  Rung 3 → 4: + chlorophyll fluorescence</a:t>
            </a:r>
          </a:p>
          <a:p>
            <a:pPr>
              <a:spcAft>
                <a:spcPts val="600"/>
              </a:spcAft>
            </a:pPr>
            <a:r>
              <a:rPr sz="1400" b="0">
                <a:solidFill>
                  <a:srgbClr val="0B0B0B"/>
                </a:solidFill>
                <a:latin typeface="Calibri"/>
              </a:rPr>
              <a:t>•  a peak at 685 nm, ~35 % of R_rs there in L23</a:t>
            </a:r>
          </a:p>
          <a:p>
            <a:pPr>
              <a:spcAft>
                <a:spcPts val="600"/>
              </a:spcAft>
            </a:pPr>
            <a:r>
              <a:rPr sz="1400" b="1">
                <a:solidFill>
                  <a:srgbClr val="0B0B0B"/>
                </a:solidFill>
                <a:latin typeface="Calibri"/>
              </a:rPr>
              <a:t>•  Rung 4 → 5: + CDOM fluorescence</a:t>
            </a:r>
          </a:p>
          <a:p>
            <a:pPr>
              <a:spcAft>
                <a:spcPts val="600"/>
              </a:spcAft>
            </a:pPr>
            <a:r>
              <a:rPr sz="1400" b="0">
                <a:solidFill>
                  <a:srgbClr val="0B0B0B"/>
                </a:solidFill>
                <a:latin typeface="Calibri"/>
              </a:rPr>
              <a:t>•  a broad hump peaking near 515 nm; the unvalidated rung, with a_cdom = 0.8 a_dg</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Equal parameter count on every rung</a:t>
            </a:r>
          </a:p>
          <a:p>
            <a:pPr>
              <a:spcAft>
                <a:spcPts val="600"/>
              </a:spcAft>
            </a:pPr>
            <a:r>
              <a:rPr sz="1400" b="0">
                <a:solidFill>
                  <a:srgbClr val="0B0B0B"/>
                </a:solidFill>
                <a:latin typeface="Calibri"/>
              </a:rPr>
              <a:t>•  so model selection between rungs is a pure likelihood contest</a:t>
            </a:r>
          </a:p>
          <a:p>
            <a:pPr>
              <a:spcAft>
                <a:spcPts val="600"/>
              </a:spcAft>
            </a:pPr>
            <a:r>
              <a:rPr sz="1400" b="1">
                <a:solidFill>
                  <a:srgbClr val="0B0B0B"/>
                </a:solidFill>
                <a:latin typeface="Calibri"/>
              </a:rPr>
              <a:t>•  One noise model per arm</a:t>
            </a:r>
          </a:p>
          <a:p>
            <a:pPr>
              <a:spcAft>
                <a:spcPts val="600"/>
              </a:spcAft>
            </a:pPr>
            <a:r>
              <a:rPr sz="1400" b="0">
                <a:solidFill>
                  <a:srgbClr val="0B0B0B"/>
                </a:solidFill>
                <a:latin typeface="Calibri"/>
              </a:rPr>
              <a:t>•  PACE-like on L23, each record's own error (10 % floor) on PANGAEA, per-pixel Rrs_unc on PACE</a:t>
            </a:r>
          </a:p>
          <a:p>
            <a:pPr>
              <a:spcAft>
                <a:spcPts val="600"/>
              </a:spcAft>
            </a:pPr>
            <a:r>
              <a:rPr sz="1400" b="1">
                <a:solidFill>
                  <a:srgbClr val="0B0B0B"/>
                </a:solidFill>
                <a:latin typeface="Calibri"/>
              </a:rPr>
              <a:t>•  Truth only where it exists</a:t>
            </a:r>
          </a:p>
          <a:p>
            <a:pPr>
              <a:spcAft>
                <a:spcPts val="600"/>
              </a:spcAft>
            </a:pPr>
            <a:r>
              <a:rPr sz="1400" b="0">
                <a:solidFill>
                  <a:srgbClr val="0B0B0B"/>
                </a:solidFill>
                <a:latin typeface="Calibri"/>
              </a:rPr>
              <a:t>•  L23: exact IOPs; PANGAEA: measured a_ph, a_dg, b_bp; PACE: none — that arm scores closure and model selection only</a:t>
            </a:r>
          </a:p>
          <a:p>
            <a:pPr>
              <a:spcAft>
                <a:spcPts val="600"/>
              </a:spcAft>
            </a:pPr>
            <a:r>
              <a:rPr sz="1400" b="1">
                <a:solidFill>
                  <a:srgbClr val="0B0B0B"/>
                </a:solidFill>
                <a:latin typeface="Calibri"/>
              </a:rPr>
              <a:t>•  Cost</a:t>
            </a:r>
          </a:p>
          <a:p>
            <a:pPr>
              <a:spcAft>
                <a:spcPts val="600"/>
              </a:spcAft>
            </a:pPr>
            <a:r>
              <a:rPr sz="1400" b="0">
                <a:solidFill>
                  <a:srgbClr val="0B0B0B"/>
                </a:solidFill>
                <a:latin typeface="Calibri"/>
              </a:rPr>
              <a:t>•  17,020 MCMC fits for RT-A (171 h on 20 cores), 495 for RT-B (4.8 h)</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13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rt_tests.md smoke run 2026-09-09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Two forward models, one spectrum: the same fit, a different decomposition</a:t>
            </a:r>
          </a:p>
        </p:txBody>
      </p:sp>
      <p:pic>
        <p:nvPicPr>
          <p:cNvPr id="3" name="Picture 2" descr="fig04_degeneracy_example.png"/>
          <p:cNvPicPr>
            <a:picLocks noChangeAspect="1"/>
          </p:cNvPicPr>
          <p:nvPr/>
        </p:nvPicPr>
        <p:blipFill>
          <a:blip r:embed="rId2"/>
          <a:stretch>
            <a:fillRect/>
          </a:stretch>
        </p:blipFill>
        <p:spPr>
          <a:xfrm>
            <a:off x="457200" y="1501802"/>
            <a:ext cx="11274552" cy="3945834"/>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Both fits reach χ²ν = 1.09.  Phytoplankton absorption differs by orders of magnitude.  The fit cannot tell the physics apart.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14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 L23 body 1132, chosen by rule (both rungs at χ²ν within 15 % of 1, largest a_ph disagreement)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The centrepiece: down the ladder, error moves only where the physics was the problem</a:t>
            </a:r>
          </a:p>
        </p:txBody>
      </p:sp>
      <p:pic>
        <p:nvPicPr>
          <p:cNvPr id="3" name="Picture 2" descr="fig05_rt_ladder_l23.png"/>
          <p:cNvPicPr>
            <a:picLocks noChangeAspect="1"/>
          </p:cNvPicPr>
          <p:nvPr/>
        </p:nvPicPr>
        <p:blipFill>
          <a:blip r:embed="rId2"/>
          <a:stretch>
            <a:fillRect/>
          </a:stretch>
        </p:blipFill>
        <p:spPr>
          <a:xfrm>
            <a:off x="457200" y="1562495"/>
            <a:ext cx="11274552" cy="3824449"/>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Total absorption: 5 % everywhere.  Particulate backscatter: +55 % → −5 %.  Phytoplankton and CDOM absorption: unchanged.</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15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 L23, 3,309 bodies, MCMC medians; reconciled in claudes-phd-thesis/reports/rta_reconcile.md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Read it as two findings</a:t>
            </a:r>
          </a:p>
        </p:txBody>
      </p:sp>
      <p:sp>
        <p:nvSpPr>
          <p:cNvPr id="3" name="Rounded Rectangle 2"/>
          <p:cNvSpPr/>
          <p:nvPr/>
        </p:nvSpPr>
        <p:spPr>
          <a:xfrm>
            <a:off x="457200" y="1463040"/>
            <a:ext cx="5454396"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600200"/>
            <a:ext cx="5180076" cy="914400"/>
          </a:xfrm>
          <a:prstGeom prst="rect">
            <a:avLst/>
          </a:prstGeom>
          <a:noFill/>
        </p:spPr>
        <p:txBody>
          <a:bodyPr wrap="square" anchor="ctr" lIns="45720" rIns="45720">
            <a:spAutoFit/>
          </a:bodyPr>
          <a:lstStyle/>
          <a:p>
            <a:pPr algn="ctr"/>
            <a:r>
              <a:rPr sz="4400" b="1" i="0">
                <a:solidFill>
                  <a:srgbClr val="1C7293"/>
                </a:solidFill>
                <a:latin typeface="Cambria"/>
              </a:rPr>
              <a:t>+55 % → −5 %</a:t>
            </a:r>
          </a:p>
        </p:txBody>
      </p:sp>
      <p:sp>
        <p:nvSpPr>
          <p:cNvPr id="5" name="TextBox 4"/>
          <p:cNvSpPr txBox="1"/>
          <p:nvPr/>
        </p:nvSpPr>
        <p:spPr>
          <a:xfrm>
            <a:off x="594360" y="2468880"/>
            <a:ext cx="5180076" cy="640080"/>
          </a:xfrm>
          <a:prstGeom prst="rect">
            <a:avLst/>
          </a:prstGeom>
          <a:noFill/>
        </p:spPr>
        <p:txBody>
          <a:bodyPr wrap="square" anchor="t" lIns="45720" rIns="45720">
            <a:spAutoFit/>
          </a:bodyPr>
          <a:lstStyle/>
          <a:p>
            <a:pPr algn="ctr"/>
            <a:r>
              <a:rPr sz="1300" b="0" i="0">
                <a:solidFill>
                  <a:srgbClr val="52514E"/>
                </a:solidFill>
                <a:latin typeface="Calibri"/>
              </a:rPr>
              <a:t>particulate backscatter bias, elastic → full inelastic (L23, 555 nm)</a:t>
            </a:r>
          </a:p>
        </p:txBody>
      </p:sp>
      <p:sp>
        <p:nvSpPr>
          <p:cNvPr id="6" name="TextBox 5"/>
          <p:cNvSpPr txBox="1"/>
          <p:nvPr/>
        </p:nvSpPr>
        <p:spPr>
          <a:xfrm>
            <a:off x="457200" y="3383280"/>
            <a:ext cx="5454396" cy="2468880"/>
          </a:xfrm>
          <a:prstGeom prst="rect">
            <a:avLst/>
          </a:prstGeom>
          <a:noFill/>
        </p:spPr>
        <p:txBody>
          <a:bodyPr wrap="square">
            <a:spAutoFit/>
          </a:bodyPr>
          <a:lstStyle/>
          <a:p>
            <a:pPr>
              <a:spcAft>
                <a:spcPts val="600"/>
              </a:spcAft>
            </a:pPr>
            <a:r>
              <a:rPr sz="1400" b="0">
                <a:solidFill>
                  <a:srgbClr val="0B0B0B"/>
                </a:solidFill>
                <a:latin typeface="Calibri"/>
              </a:rPr>
              <a:t>•  interval coverage 0.00 → 0.59</a:t>
            </a:r>
          </a:p>
          <a:p>
            <a:pPr>
              <a:spcAft>
                <a:spcPts val="600"/>
              </a:spcAft>
            </a:pPr>
            <a:r>
              <a:rPr sz="1400" b="0">
                <a:solidFill>
                  <a:srgbClr val="0B0B0B"/>
                </a:solidFill>
                <a:latin typeface="Calibri"/>
              </a:rPr>
              <a:t>•  this is a physics failure</a:t>
            </a:r>
          </a:p>
          <a:p>
            <a:pPr>
              <a:spcAft>
                <a:spcPts val="600"/>
              </a:spcAft>
            </a:pPr>
            <a:r>
              <a:rPr sz="1400" b="0">
                <a:solidFill>
                  <a:srgbClr val="0B0B0B"/>
                </a:solidFill>
                <a:latin typeface="Calibri"/>
              </a:rPr>
              <a:t>•  and it is the failure the forward model was built to remove</a:t>
            </a:r>
          </a:p>
        </p:txBody>
      </p:sp>
      <p:sp>
        <p:nvSpPr>
          <p:cNvPr id="7" name="Rounded Rectangle 6"/>
          <p:cNvSpPr/>
          <p:nvPr/>
        </p:nvSpPr>
        <p:spPr>
          <a:xfrm>
            <a:off x="6277356" y="1463040"/>
            <a:ext cx="5454396"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4516" y="1600200"/>
            <a:ext cx="5180076" cy="914400"/>
          </a:xfrm>
          <a:prstGeom prst="rect">
            <a:avLst/>
          </a:prstGeom>
          <a:noFill/>
        </p:spPr>
        <p:txBody>
          <a:bodyPr wrap="square" anchor="ctr" lIns="45720" rIns="45720">
            <a:spAutoFit/>
          </a:bodyPr>
          <a:lstStyle/>
          <a:p>
            <a:pPr algn="ctr"/>
            <a:r>
              <a:rPr sz="4400" b="1" i="0">
                <a:solidFill>
                  <a:srgbClr val="1C7293"/>
                </a:solidFill>
                <a:latin typeface="Cambria"/>
              </a:rPr>
              <a:t>×2 wrong</a:t>
            </a:r>
          </a:p>
        </p:txBody>
      </p:sp>
      <p:sp>
        <p:nvSpPr>
          <p:cNvPr id="9" name="TextBox 8"/>
          <p:cNvSpPr txBox="1"/>
          <p:nvPr/>
        </p:nvSpPr>
        <p:spPr>
          <a:xfrm>
            <a:off x="6414516" y="2468880"/>
            <a:ext cx="5180076" cy="640080"/>
          </a:xfrm>
          <a:prstGeom prst="rect">
            <a:avLst/>
          </a:prstGeom>
          <a:noFill/>
        </p:spPr>
        <p:txBody>
          <a:bodyPr wrap="square" anchor="t" lIns="45720" rIns="45720">
            <a:spAutoFit/>
          </a:bodyPr>
          <a:lstStyle/>
          <a:p>
            <a:pPr algn="ctr"/>
            <a:r>
              <a:rPr sz="1300" b="0" i="0">
                <a:solidFill>
                  <a:srgbClr val="52514E"/>
                </a:solidFill>
                <a:latin typeface="Calibri"/>
              </a:rPr>
              <a:t>phytoplankton absorption under every one of the five physics (MAE 85–252 %, always low)</a:t>
            </a:r>
          </a:p>
        </p:txBody>
      </p:sp>
      <p:sp>
        <p:nvSpPr>
          <p:cNvPr id="10" name="TextBox 9"/>
          <p:cNvSpPr txBox="1"/>
          <p:nvPr/>
        </p:nvSpPr>
        <p:spPr>
          <a:xfrm>
            <a:off x="6277356" y="3383280"/>
            <a:ext cx="5454396" cy="2468880"/>
          </a:xfrm>
          <a:prstGeom prst="rect">
            <a:avLst/>
          </a:prstGeom>
          <a:noFill/>
        </p:spPr>
        <p:txBody>
          <a:bodyPr wrap="square">
            <a:spAutoFit/>
          </a:bodyPr>
          <a:lstStyle/>
          <a:p>
            <a:pPr>
              <a:spcAft>
                <a:spcPts val="600"/>
              </a:spcAft>
            </a:pPr>
            <a:r>
              <a:rPr sz="1400" b="0">
                <a:solidFill>
                  <a:srgbClr val="0B0B0B"/>
                </a:solidFill>
                <a:latin typeface="Calibri"/>
              </a:rPr>
              <a:t>•  a_dg 25–38 % high under every physics</a:t>
            </a:r>
          </a:p>
          <a:p>
            <a:pPr>
              <a:spcAft>
                <a:spcPts val="600"/>
              </a:spcAft>
            </a:pPr>
            <a:r>
              <a:rPr sz="1400" b="0">
                <a:solidFill>
                  <a:srgbClr val="0B0B0B"/>
                </a:solidFill>
                <a:latin typeface="Calibri"/>
              </a:rPr>
              <a:t>•  χ²ν = 1.07–1.14 throughout: the fit is happy</a:t>
            </a:r>
          </a:p>
          <a:p>
            <a:pPr>
              <a:spcAft>
                <a:spcPts val="600"/>
              </a:spcAft>
            </a:pPr>
            <a:r>
              <a:rPr sz="1400" b="0">
                <a:solidFill>
                  <a:srgbClr val="0B0B0B"/>
                </a:solidFill>
                <a:latin typeface="Calibri"/>
              </a:rPr>
              <a:t>•  this is a parameterization failure that no physics fixes</a:t>
            </a:r>
          </a:p>
        </p:txBody>
      </p:sp>
      <p:sp>
        <p:nvSpPr>
          <p:cNvPr id="11" name="TextBox 10"/>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16 / 40</a:t>
            </a:r>
          </a:p>
        </p:txBody>
      </p:sp>
      <p:sp>
        <p:nvSpPr>
          <p:cNvPr id="12" name="TextBox 11"/>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The same ladder across the spectrum, on synthetic and in-situ spectra</a:t>
            </a:r>
          </a:p>
        </p:txBody>
      </p:sp>
      <p:pic>
        <p:nvPicPr>
          <p:cNvPr id="3" name="Picture 2" descr="fig06_rt_ladder_vs_wavelength.png"/>
          <p:cNvPicPr>
            <a:picLocks noChangeAspect="1"/>
          </p:cNvPicPr>
          <p:nvPr/>
        </p:nvPicPr>
        <p:blipFill>
          <a:blip r:embed="rId2"/>
          <a:stretch>
            <a:fillRect/>
          </a:stretch>
        </p:blipFill>
        <p:spPr>
          <a:xfrm>
            <a:off x="2096172" y="1188720"/>
            <a:ext cx="7969174" cy="457200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On L23 the physics fixes backscatter at every wavelength; on PANGAEA the fluorescence terms move error from CDOM into phytoplankton rather than removing it.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17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 metrics_spectral, MCMC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The in-situ arm: 97 PANGAEA spectra with measured a_ph, a_dg, b_bp</a:t>
            </a:r>
          </a:p>
        </p:txBody>
      </p:sp>
      <p:graphicFrame>
        <p:nvGraphicFramePr>
          <p:cNvPr id="3" name="Table 2"/>
          <p:cNvGraphicFramePr>
            <a:graphicFrameLocks noGrp="1"/>
          </p:cNvGraphicFramePr>
          <p:nvPr/>
        </p:nvGraphicFramePr>
        <p:xfrm>
          <a:off x="457200" y="1371600"/>
          <a:ext cx="11274552" cy="2194560"/>
        </p:xfrm>
        <a:graphic>
          <a:graphicData uri="http://schemas.openxmlformats.org/drawingml/2006/table">
            <a:tbl>
              <a:tblPr firstRow="1" bandRow="1">
                <a:tableStyleId>{5C22544A-7EE6-4342-B048-85BDC9FD1C3A}</a:tableStyleId>
              </a:tblPr>
              <a:tblGrid>
                <a:gridCol w="2743200"/>
                <a:gridCol w="2377440"/>
                <a:gridCol w="2651760"/>
                <a:gridCol w="3502152"/>
              </a:tblGrid>
              <a:tr h="365760">
                <a:tc>
                  <a:txBody>
                    <a:bodyPr/>
                    <a:lstStyle/>
                    <a:p>
                      <a:r>
                        <a:rPr sz="1500" b="1">
                          <a:solidFill>
                            <a:srgbClr val="FFFFFF"/>
                          </a:solidFill>
                          <a:latin typeface="Calibri"/>
                        </a:rPr>
                        <a:t>quantity</a:t>
                      </a:r>
                    </a:p>
                  </a:txBody>
                  <a:tcPr>
                    <a:solidFill>
                      <a:srgbClr val="14213D"/>
                    </a:solidFill>
                  </a:tcPr>
                </a:tc>
                <a:tc>
                  <a:txBody>
                    <a:bodyPr/>
                    <a:lstStyle/>
                    <a:p>
                      <a:r>
                        <a:rPr sz="1500" b="1">
                          <a:solidFill>
                            <a:srgbClr val="FFFFFF"/>
                          </a:solidFill>
                          <a:latin typeface="Calibri"/>
                        </a:rPr>
                        <a:t>elastic hybrid</a:t>
                      </a:r>
                    </a:p>
                  </a:txBody>
                  <a:tcPr>
                    <a:solidFill>
                      <a:srgbClr val="14213D"/>
                    </a:solidFill>
                  </a:tcPr>
                </a:tc>
                <a:tc>
                  <a:txBody>
                    <a:bodyPr/>
                    <a:lstStyle/>
                    <a:p>
                      <a:r>
                        <a:rPr sz="1500" b="1">
                          <a:solidFill>
                            <a:srgbClr val="FFFFFF"/>
                          </a:solidFill>
                          <a:latin typeface="Calibri"/>
                        </a:rPr>
                        <a:t>+ Chl fluorescence</a:t>
                      </a:r>
                    </a:p>
                  </a:txBody>
                  <a:tcPr>
                    <a:solidFill>
                      <a:srgbClr val="14213D"/>
                    </a:solidFill>
                  </a:tcPr>
                </a:tc>
                <a:tc>
                  <a:txBody>
                    <a:bodyPr/>
                    <a:lstStyle/>
                    <a:p>
                      <a:r>
                        <a:rPr sz="1500" b="1">
                          <a:solidFill>
                            <a:srgbClr val="FFFFFF"/>
                          </a:solidFill>
                          <a:latin typeface="Calibri"/>
                        </a:rPr>
                        <a:t>what moved</a:t>
                      </a:r>
                    </a:p>
                  </a:txBody>
                  <a:tcPr>
                    <a:solidFill>
                      <a:srgbClr val="14213D"/>
                    </a:solidFill>
                  </a:tcPr>
                </a:tc>
              </a:tr>
              <a:tr h="365760">
                <a:tc>
                  <a:txBody>
                    <a:bodyPr/>
                    <a:lstStyle/>
                    <a:p>
                      <a:r>
                        <a:rPr sz="1500">
                          <a:solidFill>
                            <a:srgbClr val="0B0B0B"/>
                          </a:solidFill>
                          <a:latin typeface="Calibri"/>
                        </a:rPr>
                        <a:t>a_dg(440) error</a:t>
                      </a:r>
                    </a:p>
                  </a:txBody>
                  <a:tcPr>
                    <a:solidFill>
                      <a:srgbClr val="EEF3F8"/>
                    </a:solidFill>
                  </a:tcPr>
                </a:tc>
                <a:tc>
                  <a:txBody>
                    <a:bodyPr/>
                    <a:lstStyle/>
                    <a:p>
                      <a:r>
                        <a:rPr sz="1500">
                          <a:solidFill>
                            <a:srgbClr val="0B0B0B"/>
                          </a:solidFill>
                          <a:latin typeface="Calibri"/>
                        </a:rPr>
                        <a:t>213 %</a:t>
                      </a:r>
                    </a:p>
                  </a:txBody>
                  <a:tcPr>
                    <a:solidFill>
                      <a:srgbClr val="EEF3F8"/>
                    </a:solidFill>
                  </a:tcPr>
                </a:tc>
                <a:tc>
                  <a:txBody>
                    <a:bodyPr/>
                    <a:lstStyle/>
                    <a:p>
                      <a:r>
                        <a:rPr sz="1500">
                          <a:solidFill>
                            <a:srgbClr val="0B0B0B"/>
                          </a:solidFill>
                          <a:latin typeface="Calibri"/>
                        </a:rPr>
                        <a:t>36 %</a:t>
                      </a:r>
                    </a:p>
                  </a:txBody>
                  <a:tcPr>
                    <a:solidFill>
                      <a:srgbClr val="EEF3F8"/>
                    </a:solidFill>
                  </a:tcPr>
                </a:tc>
                <a:tc>
                  <a:txBody>
                    <a:bodyPr/>
                    <a:lstStyle/>
                    <a:p>
                      <a:r>
                        <a:rPr sz="1500">
                          <a:solidFill>
                            <a:srgbClr val="0B0B0B"/>
                          </a:solidFill>
                          <a:latin typeface="Calibri"/>
                        </a:rPr>
                        <a:t>much better</a:t>
                      </a:r>
                    </a:p>
                  </a:txBody>
                  <a:tcPr>
                    <a:solidFill>
                      <a:srgbClr val="EEF3F8"/>
                    </a:solidFill>
                  </a:tcPr>
                </a:tc>
              </a:tr>
              <a:tr h="365760">
                <a:tc>
                  <a:txBody>
                    <a:bodyPr/>
                    <a:lstStyle/>
                    <a:p>
                      <a:r>
                        <a:rPr sz="1500">
                          <a:solidFill>
                            <a:srgbClr val="0B0B0B"/>
                          </a:solidFill>
                          <a:latin typeface="Calibri"/>
                        </a:rPr>
                        <a:t>a_ph(440) error</a:t>
                      </a:r>
                    </a:p>
                  </a:txBody>
                  <a:tcPr>
                    <a:solidFill>
                      <a:srgbClr val="FFFFFF"/>
                    </a:solidFill>
                  </a:tcPr>
                </a:tc>
                <a:tc>
                  <a:txBody>
                    <a:bodyPr/>
                    <a:lstStyle/>
                    <a:p>
                      <a:r>
                        <a:rPr sz="1500">
                          <a:solidFill>
                            <a:srgbClr val="0B0B0B"/>
                          </a:solidFill>
                          <a:latin typeface="Calibri"/>
                        </a:rPr>
                        <a:t>76 %</a:t>
                      </a:r>
                    </a:p>
                  </a:txBody>
                  <a:tcPr>
                    <a:solidFill>
                      <a:srgbClr val="FFFFFF"/>
                    </a:solidFill>
                  </a:tcPr>
                </a:tc>
                <a:tc>
                  <a:txBody>
                    <a:bodyPr/>
                    <a:lstStyle/>
                    <a:p>
                      <a:r>
                        <a:rPr sz="1500">
                          <a:solidFill>
                            <a:srgbClr val="0B0B0B"/>
                          </a:solidFill>
                          <a:latin typeface="Calibri"/>
                        </a:rPr>
                        <a:t>218 %</a:t>
                      </a:r>
                    </a:p>
                  </a:txBody>
                  <a:tcPr>
                    <a:solidFill>
                      <a:srgbClr val="FFFFFF"/>
                    </a:solidFill>
                  </a:tcPr>
                </a:tc>
                <a:tc>
                  <a:txBody>
                    <a:bodyPr/>
                    <a:lstStyle/>
                    <a:p>
                      <a:r>
                        <a:rPr sz="1500">
                          <a:solidFill>
                            <a:srgbClr val="0B0B0B"/>
                          </a:solidFill>
                          <a:latin typeface="Calibri"/>
                        </a:rPr>
                        <a:t>much worse</a:t>
                      </a:r>
                    </a:p>
                  </a:txBody>
                  <a:tcPr>
                    <a:solidFill>
                      <a:srgbClr val="FFFFFF"/>
                    </a:solidFill>
                  </a:tcPr>
                </a:tc>
              </a:tr>
              <a:tr h="365760">
                <a:tc>
                  <a:txBody>
                    <a:bodyPr/>
                    <a:lstStyle/>
                    <a:p>
                      <a:r>
                        <a:rPr sz="1500">
                          <a:solidFill>
                            <a:srgbClr val="0B0B0B"/>
                          </a:solidFill>
                          <a:latin typeface="Calibri"/>
                        </a:rPr>
                        <a:t>b_bp(555) error</a:t>
                      </a:r>
                    </a:p>
                  </a:txBody>
                  <a:tcPr>
                    <a:solidFill>
                      <a:srgbClr val="EEF3F8"/>
                    </a:solidFill>
                  </a:tcPr>
                </a:tc>
                <a:tc>
                  <a:txBody>
                    <a:bodyPr/>
                    <a:lstStyle/>
                    <a:p>
                      <a:r>
                        <a:rPr sz="1500">
                          <a:solidFill>
                            <a:srgbClr val="0B0B0B"/>
                          </a:solidFill>
                          <a:latin typeface="Calibri"/>
                        </a:rPr>
                        <a:t>30 %</a:t>
                      </a:r>
                    </a:p>
                  </a:txBody>
                  <a:tcPr>
                    <a:solidFill>
                      <a:srgbClr val="EEF3F8"/>
                    </a:solidFill>
                  </a:tcPr>
                </a:tc>
                <a:tc>
                  <a:txBody>
                    <a:bodyPr/>
                    <a:lstStyle/>
                    <a:p>
                      <a:r>
                        <a:rPr sz="1500">
                          <a:solidFill>
                            <a:srgbClr val="0B0B0B"/>
                          </a:solidFill>
                          <a:latin typeface="Calibri"/>
                        </a:rPr>
                        <a:t>19 %</a:t>
                      </a:r>
                    </a:p>
                  </a:txBody>
                  <a:tcPr>
                    <a:solidFill>
                      <a:srgbClr val="EEF3F8"/>
                    </a:solidFill>
                  </a:tcPr>
                </a:tc>
                <a:tc>
                  <a:txBody>
                    <a:bodyPr/>
                    <a:lstStyle/>
                    <a:p>
                      <a:r>
                        <a:rPr sz="1500">
                          <a:solidFill>
                            <a:srgbClr val="0B0B0B"/>
                          </a:solidFill>
                          <a:latin typeface="Calibri"/>
                        </a:rPr>
                        <a:t>better</a:t>
                      </a:r>
                    </a:p>
                  </a:txBody>
                  <a:tcPr>
                    <a:solidFill>
                      <a:srgbClr val="EEF3F8"/>
                    </a:solidFill>
                  </a:tcPr>
                </a:tc>
              </a:tr>
              <a:tr h="365760">
                <a:tc>
                  <a:txBody>
                    <a:bodyPr/>
                    <a:lstStyle/>
                    <a:p>
                      <a:r>
                        <a:rPr sz="1500">
                          <a:solidFill>
                            <a:srgbClr val="0B0B0B"/>
                          </a:solidFill>
                          <a:latin typeface="Calibri"/>
                        </a:rPr>
                        <a:t>χ²ν (median)</a:t>
                      </a:r>
                    </a:p>
                  </a:txBody>
                  <a:tcPr>
                    <a:solidFill>
                      <a:srgbClr val="FFFFFF"/>
                    </a:solidFill>
                  </a:tcPr>
                </a:tc>
                <a:tc>
                  <a:txBody>
                    <a:bodyPr/>
                    <a:lstStyle/>
                    <a:p>
                      <a:r>
                        <a:rPr sz="1500">
                          <a:solidFill>
                            <a:srgbClr val="0B0B0B"/>
                          </a:solidFill>
                          <a:latin typeface="Calibri"/>
                        </a:rPr>
                        <a:t>1.45</a:t>
                      </a:r>
                    </a:p>
                  </a:txBody>
                  <a:tcPr>
                    <a:solidFill>
                      <a:srgbClr val="FFFFFF"/>
                    </a:solidFill>
                  </a:tcPr>
                </a:tc>
                <a:tc>
                  <a:txBody>
                    <a:bodyPr/>
                    <a:lstStyle/>
                    <a:p>
                      <a:r>
                        <a:rPr sz="1500">
                          <a:solidFill>
                            <a:srgbClr val="0B0B0B"/>
                          </a:solidFill>
                          <a:latin typeface="Calibri"/>
                        </a:rPr>
                        <a:t>2.10</a:t>
                      </a:r>
                    </a:p>
                  </a:txBody>
                  <a:tcPr>
                    <a:solidFill>
                      <a:srgbClr val="FFFFFF"/>
                    </a:solidFill>
                  </a:tcPr>
                </a:tc>
                <a:tc>
                  <a:txBody>
                    <a:bodyPr/>
                    <a:lstStyle/>
                    <a:p>
                      <a:r>
                        <a:rPr sz="1500">
                          <a:solidFill>
                            <a:srgbClr val="0B0B0B"/>
                          </a:solidFill>
                          <a:latin typeface="Calibri"/>
                        </a:rPr>
                        <a:t>worse fit under flat 10 % error</a:t>
                      </a:r>
                    </a:p>
                  </a:txBody>
                  <a:tcPr>
                    <a:solidFill>
                      <a:srgbClr val="FFFFFF"/>
                    </a:solidFill>
                  </a:tcPr>
                </a:tc>
              </a:tr>
              <a:tr h="365760">
                <a:tc>
                  <a:txBody>
                    <a:bodyPr/>
                    <a:lstStyle/>
                    <a:p>
                      <a:r>
                        <a:rPr sz="1500">
                          <a:solidFill>
                            <a:srgbClr val="0B0B0B"/>
                          </a:solidFill>
                          <a:latin typeface="Calibri"/>
                        </a:rPr>
                        <a:t>fits acceptable</a:t>
                      </a:r>
                    </a:p>
                  </a:txBody>
                  <a:tcPr>
                    <a:solidFill>
                      <a:srgbClr val="EEF3F8"/>
                    </a:solidFill>
                  </a:tcPr>
                </a:tc>
                <a:tc>
                  <a:txBody>
                    <a:bodyPr/>
                    <a:lstStyle/>
                    <a:p>
                      <a:r>
                        <a:rPr sz="1500">
                          <a:solidFill>
                            <a:srgbClr val="0B0B0B"/>
                          </a:solidFill>
                          <a:latin typeface="Calibri"/>
                        </a:rPr>
                        <a:t>86 %</a:t>
                      </a:r>
                    </a:p>
                  </a:txBody>
                  <a:tcPr>
                    <a:solidFill>
                      <a:srgbClr val="EEF3F8"/>
                    </a:solidFill>
                  </a:tcPr>
                </a:tc>
                <a:tc>
                  <a:txBody>
                    <a:bodyPr/>
                    <a:lstStyle/>
                    <a:p>
                      <a:r>
                        <a:rPr sz="1500">
                          <a:solidFill>
                            <a:srgbClr val="0B0B0B"/>
                          </a:solidFill>
                          <a:latin typeface="Calibri"/>
                        </a:rPr>
                        <a:t>74 %</a:t>
                      </a:r>
                    </a:p>
                  </a:txBody>
                  <a:tcPr>
                    <a:solidFill>
                      <a:srgbClr val="EEF3F8"/>
                    </a:solidFill>
                  </a:tcPr>
                </a:tc>
                <a:tc>
                  <a:txBody>
                    <a:bodyPr/>
                    <a:lstStyle/>
                    <a:p>
                      <a:r>
                        <a:rPr sz="1500">
                          <a:solidFill>
                            <a:srgbClr val="0B0B0B"/>
                          </a:solidFill>
                          <a:latin typeface="Calibri"/>
                        </a:rPr>
                        <a:t>thin 6–11-band spectra; B_p fixed</a:t>
                      </a:r>
                    </a:p>
                  </a:txBody>
                  <a:tcPr>
                    <a:solidFill>
                      <a:srgbClr val="EEF3F8"/>
                    </a:solidFill>
                  </a:tcPr>
                </a:tc>
              </a:tr>
            </a:tbl>
          </a:graphicData>
        </a:graphic>
      </p:graphicFrame>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On real spectra the physics shifts error between the two absorption components; it does not remove it.  B_p is fixed here (Q52) and the error model is a flat 10 % (Q53).</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18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 rt_tests_A_pangaea_v1, MCMC, n = 72–83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Real PACE pixels, no truth: how far does the physics move the answer?</a:t>
            </a:r>
          </a:p>
        </p:txBody>
      </p:sp>
      <p:pic>
        <p:nvPicPr>
          <p:cNvPr id="3" name="Picture 2" descr="fig07_pace_fractional_change.png"/>
          <p:cNvPicPr>
            <a:picLocks noChangeAspect="1"/>
          </p:cNvPicPr>
          <p:nvPr/>
        </p:nvPicPr>
        <p:blipFill>
          <a:blip r:embed="rId2"/>
          <a:stretch>
            <a:fillRect/>
          </a:stretch>
        </p:blipFill>
        <p:spPr>
          <a:xfrm>
            <a:off x="457200" y="1593074"/>
            <a:ext cx="11274552" cy="376329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Full inelastic ÷ elastic on 99 pixels: backscatter −21 % (16–84 %: −30…−12), a_ph +5 %, a_dg +1 % — nearly unchanged on average, wide spread.</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19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 rt_tests_B_v1, band 442 nm, MCMC medians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Would the fit alone have found the physics error?  No.</a:t>
            </a:r>
          </a:p>
        </p:txBody>
      </p:sp>
      <p:pic>
        <p:nvPicPr>
          <p:cNvPr id="3" name="Picture 2" descr="fig08_dbic_three_arms.png"/>
          <p:cNvPicPr>
            <a:picLocks noChangeAspect="1"/>
          </p:cNvPicPr>
          <p:nvPr/>
        </p:nvPicPr>
        <p:blipFill>
          <a:blip r:embed="rId2"/>
          <a:stretch>
            <a:fillRect/>
          </a:stretch>
        </p:blipFill>
        <p:spPr>
          <a:xfrm>
            <a:off x="457200" y="1581048"/>
            <a:ext cx="11274552" cy="3787343"/>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ΔBIC, equal parameter counts: synthetic spectra prefer the inelastic physics (71 %), sparse in-situ spectra do not (32 %), satellite pixels split (52 %; 30 % strongly, 23 % strongly against).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20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 results_scalar, MCMC ok rows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What the ladder pages say about themselves</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Held fixed, stated on every page</a:t>
            </a:r>
          </a:p>
          <a:p>
            <a:pPr>
              <a:spcAft>
                <a:spcPts val="600"/>
              </a:spcAft>
            </a:pPr>
            <a:r>
              <a:rPr sz="1400" b="0">
                <a:solidFill>
                  <a:srgbClr val="0B0B0B"/>
                </a:solidFill>
                <a:latin typeface="Calibri"/>
              </a:rPr>
              <a:t>•  nadir viewing geometry (θ_v = 0, Δφ = 0); solar zenith 0° on L23, computed per record elsewhere</a:t>
            </a:r>
          </a:p>
          <a:p>
            <a:pPr>
              <a:spcAft>
                <a:spcPts val="600"/>
              </a:spcAft>
            </a:pPr>
            <a:r>
              <a:rPr sz="1400" b="0">
                <a:solidFill>
                  <a:srgbClr val="0B0B0B"/>
                </a:solidFill>
                <a:latin typeface="Calibri"/>
              </a:rPr>
              <a:t>•  a_cdom = 0.8 × a_dg drives the CDOM-fluorescence term</a:t>
            </a:r>
          </a:p>
          <a:p>
            <a:pPr>
              <a:spcAft>
                <a:spcPts val="600"/>
              </a:spcAft>
            </a:pPr>
            <a:r>
              <a:rPr sz="1400" b="0">
                <a:solidFill>
                  <a:srgbClr val="0B0B0B"/>
                </a:solidFill>
                <a:latin typeface="Calibri"/>
              </a:rPr>
              <a:t>•  packaged sky irradiance (ed_l23.npz)</a:t>
            </a:r>
          </a:p>
          <a:p>
            <a:pPr>
              <a:spcAft>
                <a:spcPts val="600"/>
              </a:spcAft>
            </a:pPr>
            <a:r>
              <a:rPr sz="1400" b="0">
                <a:solidFill>
                  <a:srgbClr val="0B0B0B"/>
                </a:solidFill>
                <a:latin typeface="Calibri"/>
              </a:rPr>
              <a:t>•  learned inelastic corrections OFF inside BING — the ladder measures the analytic inelastic physics</a:t>
            </a:r>
          </a:p>
          <a:p>
            <a:pPr>
              <a:spcAft>
                <a:spcPts val="600"/>
              </a:spcAft>
            </a:pPr>
            <a:r>
              <a:rPr sz="1400" b="0">
                <a:solidFill>
                  <a:srgbClr val="0B0B0B"/>
                </a:solidFill>
                <a:latin typeface="Calibri"/>
              </a:rPr>
              <a:t>•  hybrid emulator evaluated outside its trained B_p span wherever B_p is free (accepted, Q50c)</a:t>
            </a:r>
          </a:p>
          <a:p>
            <a:pPr>
              <a:spcAft>
                <a:spcPts val="600"/>
              </a:spcAft>
            </a:pPr>
            <a:r>
              <a:rPr sz="1400" b="0">
                <a:solidFill>
                  <a:srgbClr val="0B0B0B"/>
                </a:solidFill>
                <a:latin typeface="Calibri"/>
              </a:rPr>
              <a:t>•  L23 truth lacks CDOM fluorescence and uses a single-Gaussian emission line</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Consistency</a:t>
            </a:r>
          </a:p>
          <a:p>
            <a:pPr>
              <a:spcAft>
                <a:spcPts val="600"/>
              </a:spcAft>
            </a:pPr>
            <a:r>
              <a:rPr sz="1400" b="0">
                <a:solidFill>
                  <a:srgbClr val="0B0B0B"/>
                </a:solidFill>
                <a:latin typeface="Calibri"/>
              </a:rPr>
              <a:t>•  99 PACE pixels reproduce PAB's Gordon-elastic posteriors: correlations 0.94–1.00, derived-Chl ratio 1.05, identical input spectra</a:t>
            </a:r>
          </a:p>
          <a:p>
            <a:pPr>
              <a:spcAft>
                <a:spcPts val="600"/>
              </a:spcAft>
            </a:pPr>
            <a:r>
              <a:rPr sz="1400" b="1">
                <a:solidFill>
                  <a:srgbClr val="0B0B0B"/>
                </a:solidFill>
                <a:latin typeface="Calibri"/>
              </a:rPr>
              <a:t>•  Completeness</a:t>
            </a:r>
          </a:p>
          <a:p>
            <a:pPr>
              <a:spcAft>
                <a:spcPts val="600"/>
              </a:spcAft>
            </a:pPr>
            <a:r>
              <a:rPr sz="1400" b="0">
                <a:solidFill>
                  <a:srgbClr val="0B0B0B"/>
                </a:solidFill>
                <a:latin typeface="Calibri"/>
              </a:rPr>
              <a:t>•  L23: 3,309 of 3,320 fitted on every rung (11 red-peaked bodies declined identically); PANGAEA 95 of 97; PACE 99 of 100</a:t>
            </a:r>
          </a:p>
          <a:p>
            <a:pPr>
              <a:spcAft>
                <a:spcPts val="600"/>
              </a:spcAft>
            </a:pPr>
            <a:r>
              <a:rPr sz="1400" b="1">
                <a:solidFill>
                  <a:srgbClr val="0B0B0B"/>
                </a:solidFill>
                <a:latin typeface="Calibri"/>
              </a:rPr>
              <a:t>•  Cost</a:t>
            </a:r>
          </a:p>
          <a:p>
            <a:pPr>
              <a:spcAft>
                <a:spcPts val="600"/>
              </a:spcAft>
            </a:pPr>
            <a:r>
              <a:rPr sz="1400" b="0">
                <a:solidFill>
                  <a:srgbClr val="0B0B0B"/>
                </a:solidFill>
                <a:latin typeface="Calibri"/>
              </a:rPr>
              <a:t>•  17,020 MCMC fits, 171 h on 20 cores for RT-A; 4.8 h for RT-B</a:t>
            </a:r>
          </a:p>
          <a:p>
            <a:pPr>
              <a:spcAft>
                <a:spcPts val="600"/>
              </a:spcAft>
            </a:pPr>
            <a:r>
              <a:rPr sz="1400" b="1">
                <a:solidFill>
                  <a:srgbClr val="0B0B0B"/>
                </a:solidFill>
                <a:latin typeface="Calibri"/>
              </a:rPr>
              <a:t>•  Excluded from the leaderboard by design</a:t>
            </a:r>
          </a:p>
          <a:p>
            <a:pPr>
              <a:spcAft>
                <a:spcPts val="600"/>
              </a:spcAft>
            </a:pPr>
            <a:r>
              <a:rPr sz="1400" b="0">
                <a:solidFill>
                  <a:srgbClr val="0B0B0B"/>
                </a:solidFill>
                <a:latin typeface="Calibri"/>
              </a:rPr>
              <a:t>•  five rungs of one algorithm are not five algorithms</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21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pab_consistency_summary.csv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The 99 PACE pixels are PAB's: the two fitters agree to within the physics swap</a:t>
            </a:r>
          </a:p>
        </p:txBody>
      </p:sp>
      <p:graphicFrame>
        <p:nvGraphicFramePr>
          <p:cNvPr id="3" name="Table 2"/>
          <p:cNvGraphicFramePr>
            <a:graphicFrameLocks noGrp="1"/>
          </p:cNvGraphicFramePr>
          <p:nvPr/>
        </p:nvGraphicFramePr>
        <p:xfrm>
          <a:off x="457200" y="1371600"/>
          <a:ext cx="11274552" cy="2560320"/>
        </p:xfrm>
        <a:graphic>
          <a:graphicData uri="http://schemas.openxmlformats.org/drawingml/2006/table">
            <a:tbl>
              <a:tblPr firstRow="1" bandRow="1">
                <a:tableStyleId>{5C22544A-7EE6-4342-B048-85BDC9FD1C3A}</a:tableStyleId>
              </a:tblPr>
              <a:tblGrid>
                <a:gridCol w="3108960"/>
                <a:gridCol w="1188720"/>
                <a:gridCol w="2743200"/>
                <a:gridCol w="2011680"/>
                <a:gridCol w="2221992"/>
              </a:tblGrid>
              <a:tr h="365760">
                <a:tc>
                  <a:txBody>
                    <a:bodyPr/>
                    <a:lstStyle/>
                    <a:p>
                      <a:r>
                        <a:rPr sz="1400" b="1">
                          <a:solidFill>
                            <a:srgbClr val="FFFFFF"/>
                          </a:solidFill>
                          <a:latin typeface="Calibri"/>
                        </a:rPr>
                        <a:t>shared parameter</a:t>
                      </a:r>
                    </a:p>
                  </a:txBody>
                  <a:tcPr>
                    <a:solidFill>
                      <a:srgbClr val="14213D"/>
                    </a:solidFill>
                  </a:tcPr>
                </a:tc>
                <a:tc>
                  <a:txBody>
                    <a:bodyPr/>
                    <a:lstStyle/>
                    <a:p>
                      <a:r>
                        <a:rPr sz="1400" b="1">
                          <a:solidFill>
                            <a:srgbClr val="FFFFFF"/>
                          </a:solidFill>
                          <a:latin typeface="Calibri"/>
                        </a:rPr>
                        <a:t>scale</a:t>
                      </a:r>
                    </a:p>
                  </a:txBody>
                  <a:tcPr>
                    <a:solidFill>
                      <a:srgbClr val="14213D"/>
                    </a:solidFill>
                  </a:tcPr>
                </a:tc>
                <a:tc>
                  <a:txBody>
                    <a:bodyPr/>
                    <a:lstStyle/>
                    <a:p>
                      <a:r>
                        <a:rPr sz="1400" b="1">
                          <a:solidFill>
                            <a:srgbClr val="FFFFFF"/>
                          </a:solidFill>
                          <a:latin typeface="Calibri"/>
                        </a:rPr>
                        <a:t>correlation of posterior medians</a:t>
                      </a:r>
                    </a:p>
                  </a:txBody>
                  <a:tcPr>
                    <a:solidFill>
                      <a:srgbClr val="14213D"/>
                    </a:solidFill>
                  </a:tcPr>
                </a:tc>
                <a:tc>
                  <a:txBody>
                    <a:bodyPr/>
                    <a:lstStyle/>
                    <a:p>
                      <a:r>
                        <a:rPr sz="1400" b="1">
                          <a:solidFill>
                            <a:srgbClr val="FFFFFF"/>
                          </a:solidFill>
                          <a:latin typeface="Calibri"/>
                        </a:rPr>
                        <a:t>median (ours − PAB)</a:t>
                      </a:r>
                    </a:p>
                  </a:txBody>
                  <a:tcPr>
                    <a:solidFill>
                      <a:srgbClr val="14213D"/>
                    </a:solidFill>
                  </a:tcPr>
                </a:tc>
                <a:tc>
                  <a:txBody>
                    <a:bodyPr/>
                    <a:lstStyle/>
                    <a:p>
                      <a:r>
                        <a:rPr sz="1400" b="1">
                          <a:solidFill>
                            <a:srgbClr val="FFFFFF"/>
                          </a:solidFill>
                          <a:latin typeface="Calibri"/>
                        </a:rPr>
                        <a:t>16–84 % span</a:t>
                      </a:r>
                    </a:p>
                  </a:txBody>
                  <a:tcPr>
                    <a:solidFill>
                      <a:srgbClr val="14213D"/>
                    </a:solidFill>
                  </a:tcPr>
                </a:tc>
              </a:tr>
              <a:tr h="365760">
                <a:tc>
                  <a:txBody>
                    <a:bodyPr/>
                    <a:lstStyle/>
                    <a:p>
                      <a:r>
                        <a:rPr sz="1400">
                          <a:solidFill>
                            <a:srgbClr val="0B0B0B"/>
                          </a:solidFill>
                          <a:latin typeface="Calibri"/>
                        </a:rPr>
                        <a:t>A_dg (CDOM amplitude)</a:t>
                      </a:r>
                    </a:p>
                  </a:txBody>
                  <a:tcPr>
                    <a:solidFill>
                      <a:srgbClr val="EEF3F8"/>
                    </a:solidFill>
                  </a:tcPr>
                </a:tc>
                <a:tc>
                  <a:txBody>
                    <a:bodyPr/>
                    <a:lstStyle/>
                    <a:p>
                      <a:r>
                        <a:rPr sz="1400">
                          <a:solidFill>
                            <a:srgbClr val="0B0B0B"/>
                          </a:solidFill>
                          <a:latin typeface="Calibri"/>
                        </a:rPr>
                        <a:t>log10</a:t>
                      </a:r>
                    </a:p>
                  </a:txBody>
                  <a:tcPr>
                    <a:solidFill>
                      <a:srgbClr val="EEF3F8"/>
                    </a:solidFill>
                  </a:tcPr>
                </a:tc>
                <a:tc>
                  <a:txBody>
                    <a:bodyPr/>
                    <a:lstStyle/>
                    <a:p>
                      <a:r>
                        <a:rPr sz="1400">
                          <a:solidFill>
                            <a:srgbClr val="0B0B0B"/>
                          </a:solidFill>
                          <a:latin typeface="Calibri"/>
                        </a:rPr>
                        <a:t>0.987</a:t>
                      </a:r>
                    </a:p>
                  </a:txBody>
                  <a:tcPr>
                    <a:solidFill>
                      <a:srgbClr val="EEF3F8"/>
                    </a:solidFill>
                  </a:tcPr>
                </a:tc>
                <a:tc>
                  <a:txBody>
                    <a:bodyPr/>
                    <a:lstStyle/>
                    <a:p>
                      <a:r>
                        <a:rPr sz="1400">
                          <a:solidFill>
                            <a:srgbClr val="0B0B0B"/>
                          </a:solidFill>
                          <a:latin typeface="Calibri"/>
                        </a:rPr>
                        <a:t>−0.010</a:t>
                      </a:r>
                    </a:p>
                  </a:txBody>
                  <a:tcPr>
                    <a:solidFill>
                      <a:srgbClr val="EEF3F8"/>
                    </a:solidFill>
                  </a:tcPr>
                </a:tc>
                <a:tc>
                  <a:txBody>
                    <a:bodyPr/>
                    <a:lstStyle/>
                    <a:p>
                      <a:r>
                        <a:rPr sz="1400">
                          <a:solidFill>
                            <a:srgbClr val="0B0B0B"/>
                          </a:solidFill>
                          <a:latin typeface="Calibri"/>
                        </a:rPr>
                        <a:t>−0.048 … +0.037</a:t>
                      </a:r>
                    </a:p>
                  </a:txBody>
                  <a:tcPr>
                    <a:solidFill>
                      <a:srgbClr val="EEF3F8"/>
                    </a:solidFill>
                  </a:tcPr>
                </a:tc>
              </a:tr>
              <a:tr h="365760">
                <a:tc>
                  <a:txBody>
                    <a:bodyPr/>
                    <a:lstStyle/>
                    <a:p>
                      <a:r>
                        <a:rPr sz="1400">
                          <a:solidFill>
                            <a:srgbClr val="0B0B0B"/>
                          </a:solidFill>
                          <a:latin typeface="Calibri"/>
                        </a:rPr>
                        <a:t>S_dg (CDOM slope)</a:t>
                      </a:r>
                    </a:p>
                  </a:txBody>
                  <a:tcPr>
                    <a:solidFill>
                      <a:srgbClr val="FFFFFF"/>
                    </a:solidFill>
                  </a:tcPr>
                </a:tc>
                <a:tc>
                  <a:txBody>
                    <a:bodyPr/>
                    <a:lstStyle/>
                    <a:p>
                      <a:r>
                        <a:rPr sz="1400">
                          <a:solidFill>
                            <a:srgbClr val="0B0B0B"/>
                          </a:solidFill>
                          <a:latin typeface="Calibri"/>
                        </a:rPr>
                        <a:t>linear</a:t>
                      </a:r>
                    </a:p>
                  </a:txBody>
                  <a:tcPr>
                    <a:solidFill>
                      <a:srgbClr val="FFFFFF"/>
                    </a:solidFill>
                  </a:tcPr>
                </a:tc>
                <a:tc>
                  <a:txBody>
                    <a:bodyPr/>
                    <a:lstStyle/>
                    <a:p>
                      <a:r>
                        <a:rPr sz="1400">
                          <a:solidFill>
                            <a:srgbClr val="0B0B0B"/>
                          </a:solidFill>
                          <a:latin typeface="Calibri"/>
                        </a:rPr>
                        <a:t>0.939</a:t>
                      </a:r>
                    </a:p>
                  </a:txBody>
                  <a:tcPr>
                    <a:solidFill>
                      <a:srgbClr val="FFFFFF"/>
                    </a:solidFill>
                  </a:tcPr>
                </a:tc>
                <a:tc>
                  <a:txBody>
                    <a:bodyPr/>
                    <a:lstStyle/>
                    <a:p>
                      <a:r>
                        <a:rPr sz="1400">
                          <a:solidFill>
                            <a:srgbClr val="0B0B0B"/>
                          </a:solidFill>
                          <a:latin typeface="Calibri"/>
                        </a:rPr>
                        <a:t>−0.0007</a:t>
                      </a:r>
                    </a:p>
                  </a:txBody>
                  <a:tcPr>
                    <a:solidFill>
                      <a:srgbClr val="FFFFFF"/>
                    </a:solidFill>
                  </a:tcPr>
                </a:tc>
                <a:tc>
                  <a:txBody>
                    <a:bodyPr/>
                    <a:lstStyle/>
                    <a:p>
                      <a:r>
                        <a:rPr sz="1400">
                          <a:solidFill>
                            <a:srgbClr val="0B0B0B"/>
                          </a:solidFill>
                          <a:latin typeface="Calibri"/>
                        </a:rPr>
                        <a:t>−0.0014 … 0.0000</a:t>
                      </a:r>
                    </a:p>
                  </a:txBody>
                  <a:tcPr>
                    <a:solidFill>
                      <a:srgbClr val="FFFFFF"/>
                    </a:solidFill>
                  </a:tcPr>
                </a:tc>
              </a:tr>
              <a:tr h="365760">
                <a:tc>
                  <a:txBody>
                    <a:bodyPr/>
                    <a:lstStyle/>
                    <a:p>
                      <a:r>
                        <a:rPr sz="1400">
                          <a:solidFill>
                            <a:srgbClr val="0B0B0B"/>
                          </a:solidFill>
                          <a:latin typeface="Calibri"/>
                        </a:rPr>
                        <a:t>A_ph (phytoplankton amplitude)</a:t>
                      </a:r>
                    </a:p>
                  </a:txBody>
                  <a:tcPr>
                    <a:solidFill>
                      <a:srgbClr val="EEF3F8"/>
                    </a:solidFill>
                  </a:tcPr>
                </a:tc>
                <a:tc>
                  <a:txBody>
                    <a:bodyPr/>
                    <a:lstStyle/>
                    <a:p>
                      <a:r>
                        <a:rPr sz="1400">
                          <a:solidFill>
                            <a:srgbClr val="0B0B0B"/>
                          </a:solidFill>
                          <a:latin typeface="Calibri"/>
                        </a:rPr>
                        <a:t>log10</a:t>
                      </a:r>
                    </a:p>
                  </a:txBody>
                  <a:tcPr>
                    <a:solidFill>
                      <a:srgbClr val="EEF3F8"/>
                    </a:solidFill>
                  </a:tcPr>
                </a:tc>
                <a:tc>
                  <a:txBody>
                    <a:bodyPr/>
                    <a:lstStyle/>
                    <a:p>
                      <a:r>
                        <a:rPr sz="1400">
                          <a:solidFill>
                            <a:srgbClr val="0B0B0B"/>
                          </a:solidFill>
                          <a:latin typeface="Calibri"/>
                        </a:rPr>
                        <a:t>0.965</a:t>
                      </a:r>
                    </a:p>
                  </a:txBody>
                  <a:tcPr>
                    <a:solidFill>
                      <a:srgbClr val="EEF3F8"/>
                    </a:solidFill>
                  </a:tcPr>
                </a:tc>
                <a:tc>
                  <a:txBody>
                    <a:bodyPr/>
                    <a:lstStyle/>
                    <a:p>
                      <a:r>
                        <a:rPr sz="1400">
                          <a:solidFill>
                            <a:srgbClr val="0B0B0B"/>
                          </a:solidFill>
                          <a:latin typeface="Calibri"/>
                        </a:rPr>
                        <a:t>+0.022</a:t>
                      </a:r>
                    </a:p>
                  </a:txBody>
                  <a:tcPr>
                    <a:solidFill>
                      <a:srgbClr val="EEF3F8"/>
                    </a:solidFill>
                  </a:tcPr>
                </a:tc>
                <a:tc>
                  <a:txBody>
                    <a:bodyPr/>
                    <a:lstStyle/>
                    <a:p>
                      <a:r>
                        <a:rPr sz="1400">
                          <a:solidFill>
                            <a:srgbClr val="0B0B0B"/>
                          </a:solidFill>
                          <a:latin typeface="Calibri"/>
                        </a:rPr>
                        <a:t>−0.027 … +0.134</a:t>
                      </a:r>
                    </a:p>
                  </a:txBody>
                  <a:tcPr>
                    <a:solidFill>
                      <a:srgbClr val="EEF3F8"/>
                    </a:solidFill>
                  </a:tcPr>
                </a:tc>
              </a:tr>
              <a:tr h="365760">
                <a:tc>
                  <a:txBody>
                    <a:bodyPr/>
                    <a:lstStyle/>
                    <a:p>
                      <a:r>
                        <a:rPr sz="1400">
                          <a:solidFill>
                            <a:srgbClr val="0B0B0B"/>
                          </a:solidFill>
                          <a:latin typeface="Calibri"/>
                        </a:rPr>
                        <a:t>B_nw (backscatter amplitude)</a:t>
                      </a:r>
                    </a:p>
                  </a:txBody>
                  <a:tcPr>
                    <a:solidFill>
                      <a:srgbClr val="FFFFFF"/>
                    </a:solidFill>
                  </a:tcPr>
                </a:tc>
                <a:tc>
                  <a:txBody>
                    <a:bodyPr/>
                    <a:lstStyle/>
                    <a:p>
                      <a:r>
                        <a:rPr sz="1400">
                          <a:solidFill>
                            <a:srgbClr val="0B0B0B"/>
                          </a:solidFill>
                          <a:latin typeface="Calibri"/>
                        </a:rPr>
                        <a:t>log10</a:t>
                      </a:r>
                    </a:p>
                  </a:txBody>
                  <a:tcPr>
                    <a:solidFill>
                      <a:srgbClr val="FFFFFF"/>
                    </a:solidFill>
                  </a:tcPr>
                </a:tc>
                <a:tc>
                  <a:txBody>
                    <a:bodyPr/>
                    <a:lstStyle/>
                    <a:p>
                      <a:r>
                        <a:rPr sz="1400">
                          <a:solidFill>
                            <a:srgbClr val="0B0B0B"/>
                          </a:solidFill>
                          <a:latin typeface="Calibri"/>
                        </a:rPr>
                        <a:t>0.998</a:t>
                      </a:r>
                    </a:p>
                  </a:txBody>
                  <a:tcPr>
                    <a:solidFill>
                      <a:srgbClr val="FFFFFF"/>
                    </a:solidFill>
                  </a:tcPr>
                </a:tc>
                <a:tc>
                  <a:txBody>
                    <a:bodyPr/>
                    <a:lstStyle/>
                    <a:p>
                      <a:r>
                        <a:rPr sz="1400">
                          <a:solidFill>
                            <a:srgbClr val="0B0B0B"/>
                          </a:solidFill>
                          <a:latin typeface="Calibri"/>
                        </a:rPr>
                        <a:t>+0.048</a:t>
                      </a:r>
                    </a:p>
                  </a:txBody>
                  <a:tcPr>
                    <a:solidFill>
                      <a:srgbClr val="FFFFFF"/>
                    </a:solidFill>
                  </a:tcPr>
                </a:tc>
                <a:tc>
                  <a:txBody>
                    <a:bodyPr/>
                    <a:lstStyle/>
                    <a:p>
                      <a:r>
                        <a:rPr sz="1400">
                          <a:solidFill>
                            <a:srgbClr val="0B0B0B"/>
                          </a:solidFill>
                          <a:latin typeface="Calibri"/>
                        </a:rPr>
                        <a:t>+0.034 … +0.065</a:t>
                      </a:r>
                    </a:p>
                  </a:txBody>
                  <a:tcPr>
                    <a:solidFill>
                      <a:srgbClr val="FFFFFF"/>
                    </a:solidFill>
                  </a:tcPr>
                </a:tc>
              </a:tr>
              <a:tr h="365760">
                <a:tc>
                  <a:txBody>
                    <a:bodyPr/>
                    <a:lstStyle/>
                    <a:p>
                      <a:r>
                        <a:rPr sz="1400">
                          <a:solidFill>
                            <a:srgbClr val="0B0B0B"/>
                          </a:solidFill>
                          <a:latin typeface="Calibri"/>
                        </a:rPr>
                        <a:t>β (backscatter slope)</a:t>
                      </a:r>
                    </a:p>
                  </a:txBody>
                  <a:tcPr>
                    <a:solidFill>
                      <a:srgbClr val="EEF3F8"/>
                    </a:solidFill>
                  </a:tcPr>
                </a:tc>
                <a:tc>
                  <a:txBody>
                    <a:bodyPr/>
                    <a:lstStyle/>
                    <a:p>
                      <a:r>
                        <a:rPr sz="1400">
                          <a:solidFill>
                            <a:srgbClr val="0B0B0B"/>
                          </a:solidFill>
                          <a:latin typeface="Calibri"/>
                        </a:rPr>
                        <a:t>linear</a:t>
                      </a:r>
                    </a:p>
                  </a:txBody>
                  <a:tcPr>
                    <a:solidFill>
                      <a:srgbClr val="EEF3F8"/>
                    </a:solidFill>
                  </a:tcPr>
                </a:tc>
                <a:tc>
                  <a:txBody>
                    <a:bodyPr/>
                    <a:lstStyle/>
                    <a:p>
                      <a:r>
                        <a:rPr sz="1400">
                          <a:solidFill>
                            <a:srgbClr val="0B0B0B"/>
                          </a:solidFill>
                          <a:latin typeface="Calibri"/>
                        </a:rPr>
                        <a:t>0.935</a:t>
                      </a:r>
                    </a:p>
                  </a:txBody>
                  <a:tcPr>
                    <a:solidFill>
                      <a:srgbClr val="EEF3F8"/>
                    </a:solidFill>
                  </a:tcPr>
                </a:tc>
                <a:tc>
                  <a:txBody>
                    <a:bodyPr/>
                    <a:lstStyle/>
                    <a:p>
                      <a:r>
                        <a:rPr sz="1400">
                          <a:solidFill>
                            <a:srgbClr val="0B0B0B"/>
                          </a:solidFill>
                          <a:latin typeface="Calibri"/>
                        </a:rPr>
                        <a:t>−0.078</a:t>
                      </a:r>
                    </a:p>
                  </a:txBody>
                  <a:tcPr>
                    <a:solidFill>
                      <a:srgbClr val="EEF3F8"/>
                    </a:solidFill>
                  </a:tcPr>
                </a:tc>
                <a:tc>
                  <a:txBody>
                    <a:bodyPr/>
                    <a:lstStyle/>
                    <a:p>
                      <a:r>
                        <a:rPr sz="1400">
                          <a:solidFill>
                            <a:srgbClr val="0B0B0B"/>
                          </a:solidFill>
                          <a:latin typeface="Calibri"/>
                        </a:rPr>
                        <a:t>−0.367 … +0.014</a:t>
                      </a:r>
                    </a:p>
                  </a:txBody>
                  <a:tcPr>
                    <a:solidFill>
                      <a:srgbClr val="EEF3F8"/>
                    </a:solidFill>
                  </a:tcPr>
                </a:tc>
              </a:tr>
              <a:tr h="365760">
                <a:tc>
                  <a:txBody>
                    <a:bodyPr/>
                    <a:lstStyle/>
                    <a:p>
                      <a:r>
                        <a:rPr sz="1400">
                          <a:solidFill>
                            <a:srgbClr val="0B0B0B"/>
                          </a:solidFill>
                          <a:latin typeface="Calibri"/>
                        </a:rPr>
                        <a:t>derived chlorophyll (ratio)</a:t>
                      </a:r>
                    </a:p>
                  </a:txBody>
                  <a:tcPr>
                    <a:solidFill>
                      <a:srgbClr val="FFFFFF"/>
                    </a:solidFill>
                  </a:tcPr>
                </a:tc>
                <a:tc>
                  <a:txBody>
                    <a:bodyPr/>
                    <a:lstStyle/>
                    <a:p>
                      <a:r>
                        <a:rPr sz="1400">
                          <a:solidFill>
                            <a:srgbClr val="0B0B0B"/>
                          </a:solidFill>
                          <a:latin typeface="Calibri"/>
                        </a:rPr>
                        <a:t>ratio</a:t>
                      </a:r>
                    </a:p>
                  </a:txBody>
                  <a:tcPr>
                    <a:solidFill>
                      <a:srgbClr val="FFFFFF"/>
                    </a:solidFill>
                  </a:tcPr>
                </a:tc>
                <a:tc>
                  <a:txBody>
                    <a:bodyPr/>
                    <a:lstStyle/>
                    <a:p>
                      <a:r>
                        <a:rPr sz="1400">
                          <a:solidFill>
                            <a:srgbClr val="0B0B0B"/>
                          </a:solidFill>
                          <a:latin typeface="Calibri"/>
                        </a:rPr>
                        <a:t>0.965 (log)</a:t>
                      </a:r>
                    </a:p>
                  </a:txBody>
                  <a:tcPr>
                    <a:solidFill>
                      <a:srgbClr val="FFFFFF"/>
                    </a:solidFill>
                  </a:tcPr>
                </a:tc>
                <a:tc>
                  <a:txBody>
                    <a:bodyPr/>
                    <a:lstStyle/>
                    <a:p>
                      <a:r>
                        <a:rPr sz="1400">
                          <a:solidFill>
                            <a:srgbClr val="0B0B0B"/>
                          </a:solidFill>
                          <a:latin typeface="Calibri"/>
                        </a:rPr>
                        <a:t>1.053</a:t>
                      </a:r>
                    </a:p>
                  </a:txBody>
                  <a:tcPr>
                    <a:solidFill>
                      <a:srgbClr val="FFFFFF"/>
                    </a:solidFill>
                  </a:tcPr>
                </a:tc>
                <a:tc>
                  <a:txBody>
                    <a:bodyPr/>
                    <a:lstStyle/>
                    <a:p>
                      <a:r>
                        <a:rPr sz="1400">
                          <a:solidFill>
                            <a:srgbClr val="0B0B0B"/>
                          </a:solidFill>
                          <a:latin typeface="Calibri"/>
                        </a:rPr>
                        <a:t>0.94 … 1.36</a:t>
                      </a:r>
                    </a:p>
                  </a:txBody>
                  <a:tcPr>
                    <a:solidFill>
                      <a:srgbClr val="FFFFFF"/>
                    </a:solidFill>
                  </a:tcPr>
                </a:tc>
              </a:tr>
            </a:tbl>
          </a:graphicData>
        </a:graphic>
      </p:graphicFrame>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Same spectra to the last bit (max |ΔR_rs| = 0 on all 136 bands).  The +0.05 dex in B_nw is the elastic-model swap (hybrid sits above Gordon in R_rs) plus the free B_p.  The PACE arm stands on the data PAB published from.</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22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ioptics/runs/prototypes/rt_tests/pab_consistency.py (2026-09-18)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The benchmark: one physics, any parameterization, uniform scoring</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IOPtics: a framework, not a script</a:t>
            </a:r>
          </a:p>
          <a:p>
            <a:pPr>
              <a:spcAft>
                <a:spcPts val="600"/>
              </a:spcAft>
            </a:pPr>
            <a:r>
              <a:rPr sz="1400" b="0">
                <a:solidFill>
                  <a:srgbClr val="0B0B0B"/>
                </a:solidFill>
                <a:latin typeface="Calibri"/>
              </a:rPr>
              <a:t>•  adapters for L23, PANGAEA (Valente+2022), GLORIA (Lehmann+2023), PACE</a:t>
            </a:r>
          </a:p>
          <a:p>
            <a:pPr>
              <a:spcAft>
                <a:spcPts val="600"/>
              </a:spcAft>
            </a:pPr>
            <a:r>
              <a:rPr sz="1400" b="0">
                <a:solidFill>
                  <a:srgbClr val="0B0B0B"/>
                </a:solidFill>
                <a:latin typeface="Calibri"/>
              </a:rPr>
              <a:t>•  algorithms register with one call: BING's expb_pow, GIOP, GSM, the turbid trio, the five RT rungs</a:t>
            </a:r>
          </a:p>
          <a:p>
            <a:pPr>
              <a:spcAft>
                <a:spcPts val="600"/>
              </a:spcAft>
            </a:pPr>
            <a:r>
              <a:rPr sz="1400" b="0">
                <a:solidFill>
                  <a:srgbClr val="0B0B0B"/>
                </a:solidFill>
                <a:latin typeface="Calibri"/>
              </a:rPr>
              <a:t>•  χ² and full MCMC paths; provenance-stamped report pages; a cross-sweep leaderboard</a:t>
            </a:r>
          </a:p>
          <a:p>
            <a:pPr>
              <a:spcAft>
                <a:spcPts val="600"/>
              </a:spcAft>
            </a:pPr>
            <a:r>
              <a:rPr sz="1400" b="1">
                <a:solidFill>
                  <a:srgbClr val="0B0B0B"/>
                </a:solidFill>
                <a:latin typeface="Calibri"/>
              </a:rPr>
              <a:t>•  Scoring</a:t>
            </a:r>
          </a:p>
          <a:p>
            <a:pPr>
              <a:spcAft>
                <a:spcPts val="600"/>
              </a:spcAft>
            </a:pPr>
            <a:r>
              <a:rPr sz="1400" b="0">
                <a:solidFill>
                  <a:srgbClr val="0B0B0B"/>
                </a:solidFill>
                <a:latin typeface="Calibri"/>
              </a:rPr>
              <a:t>•  log-space accuracy and bias (Erickson+2023 convention), 68/95 % coverage, ΔBIC, paired-bootstrap head-to-head that can say "indistinguishable"</a:t>
            </a:r>
          </a:p>
          <a:p>
            <a:pPr>
              <a:spcAft>
                <a:spcPts val="600"/>
              </a:spcAft>
            </a:pPr>
            <a:r>
              <a:rPr sz="1400" b="0">
                <a:solidFill>
                  <a:srgbClr val="0B0B0B"/>
                </a:solidFill>
                <a:latin typeface="Calibri"/>
              </a:rPr>
              <a:t>•  535 tests; sphinx -W clean</a:t>
            </a:r>
          </a:p>
        </p:txBody>
      </p:sp>
      <p:sp>
        <p:nvSpPr>
          <p:cNvPr id="4" name="Rounded Rectangle 3"/>
          <p:cNvSpPr/>
          <p:nvPr/>
        </p:nvSpPr>
        <p:spPr>
          <a:xfrm>
            <a:off x="6277356" y="1463040"/>
            <a:ext cx="5454396"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14516" y="1600200"/>
            <a:ext cx="5180076" cy="914400"/>
          </a:xfrm>
          <a:prstGeom prst="rect">
            <a:avLst/>
          </a:prstGeom>
          <a:noFill/>
        </p:spPr>
        <p:txBody>
          <a:bodyPr wrap="square" anchor="ctr" lIns="45720" rIns="45720">
            <a:spAutoFit/>
          </a:bodyPr>
          <a:lstStyle/>
          <a:p>
            <a:pPr algn="ctr"/>
            <a:r>
              <a:rPr sz="4400" b="1" i="0">
                <a:solidFill>
                  <a:srgbClr val="1C7293"/>
                </a:solidFill>
                <a:latin typeface="Cambria"/>
              </a:rPr>
              <a:t>3,320 + 1,593 + 7,572</a:t>
            </a:r>
          </a:p>
        </p:txBody>
      </p:sp>
      <p:sp>
        <p:nvSpPr>
          <p:cNvPr id="6" name="TextBox 5"/>
          <p:cNvSpPr txBox="1"/>
          <p:nvPr/>
        </p:nvSpPr>
        <p:spPr>
          <a:xfrm>
            <a:off x="6414516" y="2468880"/>
            <a:ext cx="5180076" cy="640080"/>
          </a:xfrm>
          <a:prstGeom prst="rect">
            <a:avLst/>
          </a:prstGeom>
          <a:noFill/>
        </p:spPr>
        <p:txBody>
          <a:bodyPr wrap="square" anchor="t" lIns="45720" rIns="45720">
            <a:spAutoFit/>
          </a:bodyPr>
          <a:lstStyle/>
          <a:p>
            <a:pPr algn="ctr"/>
            <a:r>
              <a:rPr sz="1300" b="0" i="0">
                <a:solidFill>
                  <a:srgbClr val="52514E"/>
                </a:solidFill>
                <a:latin typeface="Calibri"/>
              </a:rPr>
              <a:t>water bodies with truth: L23 synthetic, PANGAEA in-situ, GLORIA coastal/inland</a:t>
            </a:r>
          </a:p>
        </p:txBody>
      </p:sp>
      <p:sp>
        <p:nvSpPr>
          <p:cNvPr id="7" name="TextBox 6"/>
          <p:cNvSpPr txBox="1"/>
          <p:nvPr/>
        </p:nvSpPr>
        <p:spPr>
          <a:xfrm>
            <a:off x="6277356" y="3383280"/>
            <a:ext cx="5454396" cy="2468880"/>
          </a:xfrm>
          <a:prstGeom prst="rect">
            <a:avLst/>
          </a:prstGeom>
          <a:noFill/>
        </p:spPr>
        <p:txBody>
          <a:bodyPr wrap="square">
            <a:spAutoFit/>
          </a:bodyPr>
          <a:lstStyle/>
          <a:p>
            <a:pPr>
              <a:spcAft>
                <a:spcPts val="600"/>
              </a:spcAft>
            </a:pPr>
            <a:r>
              <a:rPr sz="1400" b="0">
                <a:solidFill>
                  <a:srgbClr val="0B0B0B"/>
                </a:solidFill>
                <a:latin typeface="Calibri"/>
              </a:rPr>
              <a:t>•  every page carries the code and config versions that produced it</a:t>
            </a:r>
          </a:p>
          <a:p>
            <a:pPr>
              <a:spcAft>
                <a:spcPts val="600"/>
              </a:spcAft>
            </a:pPr>
            <a:r>
              <a:rPr sz="1400" b="0">
                <a:solidFill>
                  <a:srgbClr val="0B0B0B"/>
                </a:solidFill>
                <a:latin typeface="Calibri"/>
              </a:rPr>
              <a:t>•  ioptics.readthedocs.io</a:t>
            </a:r>
          </a:p>
        </p:txBody>
      </p:sp>
      <p:sp>
        <p:nvSpPr>
          <p:cNvPr id="8" name="TextBox 7"/>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23 / 40</a:t>
            </a:r>
          </a:p>
        </p:txBody>
      </p:sp>
      <p:sp>
        <p:nvSpPr>
          <p:cNvPr id="9" name="TextBox 8"/>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docs/design/IOPtics_design.md v0.16, IOPtics_implementation.md v0.24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Three parameterizations under one physics: totals agree, the split does not</a:t>
            </a:r>
          </a:p>
        </p:txBody>
      </p:sp>
      <p:pic>
        <p:nvPicPr>
          <p:cNvPr id="3" name="Picture 2" descr="fig09_benchmark_l23_pangaea.png"/>
          <p:cNvPicPr>
            <a:picLocks noChangeAspect="1"/>
          </p:cNvPicPr>
          <p:nvPr/>
        </p:nvPicPr>
        <p:blipFill>
          <a:blip r:embed="rId2"/>
          <a:stretch>
            <a:fillRect/>
          </a:stretch>
        </p:blipFill>
        <p:spPr>
          <a:xfrm>
            <a:off x="457200" y="1456244"/>
            <a:ext cx="11274552" cy="403695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On L23: total absorption 5–18 %, phytoplankton 28–60 %, CDOM 16–22 %.  On PANGAEA: half the apparent failure was the error model, not the algorithms (20/27/3 % → 43/53/38 %).</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24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multi_L23_PANGAEA_v2 (2026-08-08/10) and pangaea_fits_v2 (2026-08-10), χ² fits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The in-situ failure rate was a scoring artefact</a:t>
            </a:r>
          </a:p>
        </p:txBody>
      </p:sp>
      <p:sp>
        <p:nvSpPr>
          <p:cNvPr id="3" name="Rounded Rectangle 2"/>
          <p:cNvSpPr/>
          <p:nvPr/>
        </p:nvSpPr>
        <p:spPr>
          <a:xfrm>
            <a:off x="457200" y="1463040"/>
            <a:ext cx="5454396"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600200"/>
            <a:ext cx="5180076" cy="914400"/>
          </a:xfrm>
          <a:prstGeom prst="rect">
            <a:avLst/>
          </a:prstGeom>
          <a:noFill/>
        </p:spPr>
        <p:txBody>
          <a:bodyPr wrap="square" anchor="ctr" lIns="45720" rIns="45720">
            <a:spAutoFit/>
          </a:bodyPr>
          <a:lstStyle/>
          <a:p>
            <a:pPr algn="ctr"/>
            <a:r>
              <a:rPr sz="4400" b="1" i="0">
                <a:solidFill>
                  <a:srgbClr val="1C7293"/>
                </a:solidFill>
                <a:latin typeface="Cambria"/>
              </a:rPr>
              <a:t>20 / 27 / 3 %</a:t>
            </a:r>
          </a:p>
        </p:txBody>
      </p:sp>
      <p:sp>
        <p:nvSpPr>
          <p:cNvPr id="5" name="TextBox 4"/>
          <p:cNvSpPr txBox="1"/>
          <p:nvPr/>
        </p:nvSpPr>
        <p:spPr>
          <a:xfrm>
            <a:off x="594360" y="2468880"/>
            <a:ext cx="5180076" cy="640080"/>
          </a:xfrm>
          <a:prstGeom prst="rect">
            <a:avLst/>
          </a:prstGeom>
          <a:noFill/>
        </p:spPr>
        <p:txBody>
          <a:bodyPr wrap="square" anchor="t" lIns="45720" rIns="45720">
            <a:spAutoFit/>
          </a:bodyPr>
          <a:lstStyle/>
          <a:p>
            <a:pPr algn="ctr"/>
            <a:r>
              <a:rPr sz="1300" b="0" i="0">
                <a:solidFill>
                  <a:srgbClr val="52514E"/>
                </a:solidFill>
                <a:latin typeface="Calibri"/>
              </a:rPr>
              <a:t>PANGAEA spectra fitted acceptably under a flat 5 % error model and post-hoc scope (BING / GIOP / GSM)</a:t>
            </a:r>
          </a:p>
        </p:txBody>
      </p:sp>
      <p:sp>
        <p:nvSpPr>
          <p:cNvPr id="6" name="TextBox 5"/>
          <p:cNvSpPr txBox="1"/>
          <p:nvPr/>
        </p:nvSpPr>
        <p:spPr>
          <a:xfrm>
            <a:off x="457200" y="3383280"/>
            <a:ext cx="5454396" cy="2468880"/>
          </a:xfrm>
          <a:prstGeom prst="rect">
            <a:avLst/>
          </a:prstGeom>
          <a:noFill/>
        </p:spPr>
        <p:txBody>
          <a:bodyPr wrap="square">
            <a:spAutoFit/>
          </a:bodyPr>
          <a:lstStyle/>
          <a:p>
            <a:pPr>
              <a:spcAft>
                <a:spcPts val="600"/>
              </a:spcAft>
            </a:pPr>
            <a:r>
              <a:rPr sz="1400" b="0">
                <a:solidFill>
                  <a:srgbClr val="0B0B0B"/>
                </a:solidFill>
                <a:latin typeface="Calibri"/>
              </a:rPr>
              <a:t>•  converged-fit misfit was 6.7–13 %, against L23's 3–5 %</a:t>
            </a:r>
          </a:p>
          <a:p>
            <a:pPr>
              <a:spcAft>
                <a:spcPts val="600"/>
              </a:spcAft>
            </a:pPr>
            <a:r>
              <a:rPr sz="1400" b="0">
                <a:solidFill>
                  <a:srgbClr val="0B0B0B"/>
                </a:solidFill>
                <a:latin typeface="Calibri"/>
              </a:rPr>
              <a:t>•  the compilation quotes no per-band uncertainty</a:t>
            </a:r>
          </a:p>
        </p:txBody>
      </p:sp>
      <p:sp>
        <p:nvSpPr>
          <p:cNvPr id="7" name="Rounded Rectangle 6"/>
          <p:cNvSpPr/>
          <p:nvPr/>
        </p:nvSpPr>
        <p:spPr>
          <a:xfrm>
            <a:off x="6277356" y="1463040"/>
            <a:ext cx="5454396"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4516" y="1600200"/>
            <a:ext cx="5180076" cy="914400"/>
          </a:xfrm>
          <a:prstGeom prst="rect">
            <a:avLst/>
          </a:prstGeom>
          <a:noFill/>
        </p:spPr>
        <p:txBody>
          <a:bodyPr wrap="square" anchor="ctr" lIns="45720" rIns="45720">
            <a:spAutoFit/>
          </a:bodyPr>
          <a:lstStyle/>
          <a:p>
            <a:pPr algn="ctr"/>
            <a:r>
              <a:rPr sz="4400" b="1" i="0">
                <a:solidFill>
                  <a:srgbClr val="1C7293"/>
                </a:solidFill>
                <a:latin typeface="Cambria"/>
              </a:rPr>
              <a:t>43 / 53 / 38 %</a:t>
            </a:r>
          </a:p>
        </p:txBody>
      </p:sp>
      <p:sp>
        <p:nvSpPr>
          <p:cNvPr id="9" name="TextBox 8"/>
          <p:cNvSpPr txBox="1"/>
          <p:nvPr/>
        </p:nvSpPr>
        <p:spPr>
          <a:xfrm>
            <a:off x="6414516" y="2468880"/>
            <a:ext cx="5180076" cy="640080"/>
          </a:xfrm>
          <a:prstGeom prst="rect">
            <a:avLst/>
          </a:prstGeom>
          <a:noFill/>
        </p:spPr>
        <p:txBody>
          <a:bodyPr wrap="square" anchor="t" lIns="45720" rIns="45720">
            <a:spAutoFit/>
          </a:bodyPr>
          <a:lstStyle/>
          <a:p>
            <a:pPr algn="ctr"/>
            <a:r>
              <a:rPr sz="1300" b="0" i="0">
                <a:solidFill>
                  <a:srgbClr val="52514E"/>
                </a:solidFill>
                <a:latin typeface="Calibri"/>
              </a:rPr>
              <a:t>the same spectra under each record's own error with a 10 % floor and a pre-fit scope rule</a:t>
            </a:r>
          </a:p>
        </p:txBody>
      </p:sp>
      <p:sp>
        <p:nvSpPr>
          <p:cNvPr id="10" name="TextBox 9"/>
          <p:cNvSpPr txBox="1"/>
          <p:nvPr/>
        </p:nvSpPr>
        <p:spPr>
          <a:xfrm>
            <a:off x="6277356" y="3383280"/>
            <a:ext cx="5454396" cy="2468880"/>
          </a:xfrm>
          <a:prstGeom prst="rect">
            <a:avLst/>
          </a:prstGeom>
          <a:noFill/>
        </p:spPr>
        <p:txBody>
          <a:bodyPr wrap="square">
            <a:spAutoFit/>
          </a:bodyPr>
          <a:lstStyle/>
          <a:p>
            <a:pPr>
              <a:spcAft>
                <a:spcPts val="600"/>
              </a:spcAft>
            </a:pPr>
            <a:r>
              <a:rPr sz="1400" b="0">
                <a:solidFill>
                  <a:srgbClr val="0B0B0B"/>
                </a:solidFill>
                <a:latin typeface="Calibri"/>
              </a:rPr>
              <a:t>•  89–93 % valid under the field's own rule (33 % misfit over 400–600 nm)</a:t>
            </a:r>
          </a:p>
          <a:p>
            <a:pPr>
              <a:spcAft>
                <a:spcPts val="600"/>
              </a:spcAft>
            </a:pPr>
            <a:r>
              <a:rPr sz="1400" b="0">
                <a:solidFill>
                  <a:srgbClr val="0B0B0B"/>
                </a:solidFill>
                <a:latin typeface="Calibri"/>
              </a:rPr>
              <a:t>•  the residue tracks instrument era and contributor, not algorithm</a:t>
            </a:r>
          </a:p>
        </p:txBody>
      </p:sp>
      <p:sp>
        <p:nvSpPr>
          <p:cNvPr id="11" name="TextBox 10"/>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25 / 40</a:t>
            </a:r>
          </a:p>
        </p:txBody>
      </p:sp>
      <p:sp>
        <p:nvSpPr>
          <p:cNvPr id="12" name="TextBox 11"/>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reports/pangaea_fits_report.md (2026-08-10 to 08-19); pangaea_fits_v2 page (2026-09-18)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Turbid water: four backscatter parameterizations, one identical failing fit</a:t>
            </a:r>
          </a:p>
        </p:txBody>
      </p:sp>
      <p:pic>
        <p:nvPicPr>
          <p:cNvPr id="3" name="Picture 2" descr="fig10_gloria_turbid_fits.png"/>
          <p:cNvPicPr>
            <a:picLocks noChangeAspect="1"/>
          </p:cNvPicPr>
          <p:nvPr/>
        </p:nvPicPr>
        <p:blipFill>
          <a:blip r:embed="rId2"/>
          <a:stretch>
            <a:fillRect/>
          </a:stretch>
        </p:blipFill>
        <p:spPr>
          <a:xfrm>
            <a:off x="2016759" y="1188720"/>
            <a:ext cx="8128000" cy="457200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GLORIA: power-law b_bp cannot supply the red backscatter (0.2–0.4 m⁻¹ needed, 0.013 fitted); three richer models return the same fit (χ²ν 0.460/0.463/0.462/0.460).  The forward model is the remaining suspect.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26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reports/gloria_fits_report.md; gloria_turbid_v3 (2026-07-31); BING Pow2 / Pow2Flat / PowFlex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Least squares vs MCMC on the full L23 population (3,320 bodies)</a:t>
            </a:r>
          </a:p>
        </p:txBody>
      </p:sp>
      <p:graphicFrame>
        <p:nvGraphicFramePr>
          <p:cNvPr id="3" name="Table 2"/>
          <p:cNvGraphicFramePr>
            <a:graphicFrameLocks noGrp="1"/>
          </p:cNvGraphicFramePr>
          <p:nvPr/>
        </p:nvGraphicFramePr>
        <p:xfrm>
          <a:off x="457200" y="1371600"/>
          <a:ext cx="11274552" cy="1828800"/>
        </p:xfrm>
        <a:graphic>
          <a:graphicData uri="http://schemas.openxmlformats.org/drawingml/2006/table">
            <a:tbl>
              <a:tblPr firstRow="1" bandRow="1">
                <a:tableStyleId>{5C22544A-7EE6-4342-B048-85BDC9FD1C3A}</a:tableStyleId>
              </a:tblPr>
              <a:tblGrid>
                <a:gridCol w="4572000"/>
                <a:gridCol w="3291840"/>
                <a:gridCol w="3410712"/>
              </a:tblGrid>
              <a:tr h="365760">
                <a:tc>
                  <a:txBody>
                    <a:bodyPr/>
                    <a:lstStyle/>
                    <a:p>
                      <a:r>
                        <a:rPr sz="1500" b="1">
                          <a:solidFill>
                            <a:srgbClr val="FFFFFF"/>
                          </a:solidFill>
                          <a:latin typeface="Calibri"/>
                        </a:rPr>
                        <a:t>a(440), BING parameterization</a:t>
                      </a:r>
                    </a:p>
                  </a:txBody>
                  <a:tcPr>
                    <a:solidFill>
                      <a:srgbClr val="14213D"/>
                    </a:solidFill>
                  </a:tcPr>
                </a:tc>
                <a:tc>
                  <a:txBody>
                    <a:bodyPr/>
                    <a:lstStyle/>
                    <a:p>
                      <a:r>
                        <a:rPr sz="1500" b="1">
                          <a:solidFill>
                            <a:srgbClr val="FFFFFF"/>
                          </a:solidFill>
                          <a:latin typeface="Calibri"/>
                        </a:rPr>
                        <a:t>least squares (χ²)</a:t>
                      </a:r>
                    </a:p>
                  </a:txBody>
                  <a:tcPr>
                    <a:solidFill>
                      <a:srgbClr val="14213D"/>
                    </a:solidFill>
                  </a:tcPr>
                </a:tc>
                <a:tc>
                  <a:txBody>
                    <a:bodyPr/>
                    <a:lstStyle/>
                    <a:p>
                      <a:r>
                        <a:rPr sz="1500" b="1">
                          <a:solidFill>
                            <a:srgbClr val="FFFFFF"/>
                          </a:solidFill>
                          <a:latin typeface="Calibri"/>
                        </a:rPr>
                        <a:t>MCMC posterior</a:t>
                      </a:r>
                    </a:p>
                  </a:txBody>
                  <a:tcPr>
                    <a:solidFill>
                      <a:srgbClr val="14213D"/>
                    </a:solidFill>
                  </a:tcPr>
                </a:tc>
              </a:tr>
              <a:tr h="365760">
                <a:tc>
                  <a:txBody>
                    <a:bodyPr/>
                    <a:lstStyle/>
                    <a:p>
                      <a:r>
                        <a:rPr sz="1500">
                          <a:solidFill>
                            <a:srgbClr val="0B0B0B"/>
                          </a:solidFill>
                          <a:latin typeface="Calibri"/>
                        </a:rPr>
                        <a:t>error (fractional MAE)</a:t>
                      </a:r>
                    </a:p>
                  </a:txBody>
                  <a:tcPr>
                    <a:solidFill>
                      <a:srgbClr val="EEF3F8"/>
                    </a:solidFill>
                  </a:tcPr>
                </a:tc>
                <a:tc>
                  <a:txBody>
                    <a:bodyPr/>
                    <a:lstStyle/>
                    <a:p>
                      <a:r>
                        <a:rPr sz="1500">
                          <a:solidFill>
                            <a:srgbClr val="0B0B0B"/>
                          </a:solidFill>
                          <a:latin typeface="Calibri"/>
                        </a:rPr>
                        <a:t>9.9 %</a:t>
                      </a:r>
                    </a:p>
                  </a:txBody>
                  <a:tcPr>
                    <a:solidFill>
                      <a:srgbClr val="EEF3F8"/>
                    </a:solidFill>
                  </a:tcPr>
                </a:tc>
                <a:tc>
                  <a:txBody>
                    <a:bodyPr/>
                    <a:lstStyle/>
                    <a:p>
                      <a:r>
                        <a:rPr sz="1500">
                          <a:solidFill>
                            <a:srgbClr val="0B0B0B"/>
                          </a:solidFill>
                          <a:latin typeface="Calibri"/>
                        </a:rPr>
                        <a:t>6.8 %</a:t>
                      </a:r>
                    </a:p>
                  </a:txBody>
                  <a:tcPr>
                    <a:solidFill>
                      <a:srgbClr val="EEF3F8"/>
                    </a:solidFill>
                  </a:tcPr>
                </a:tc>
              </a:tr>
              <a:tr h="365760">
                <a:tc>
                  <a:txBody>
                    <a:bodyPr/>
                    <a:lstStyle/>
                    <a:p>
                      <a:r>
                        <a:rPr sz="1500">
                          <a:solidFill>
                            <a:srgbClr val="0B0B0B"/>
                          </a:solidFill>
                          <a:latin typeface="Calibri"/>
                        </a:rPr>
                        <a:t>68 % interval coverage (nominal 0.68)</a:t>
                      </a:r>
                    </a:p>
                  </a:txBody>
                  <a:tcPr>
                    <a:solidFill>
                      <a:srgbClr val="FFFFFF"/>
                    </a:solidFill>
                  </a:tcPr>
                </a:tc>
                <a:tc>
                  <a:txBody>
                    <a:bodyPr/>
                    <a:lstStyle/>
                    <a:p>
                      <a:r>
                        <a:rPr sz="1500">
                          <a:solidFill>
                            <a:srgbClr val="0B0B0B"/>
                          </a:solidFill>
                          <a:latin typeface="Calibri"/>
                        </a:rPr>
                        <a:t>0.46 — over-confident</a:t>
                      </a:r>
                    </a:p>
                  </a:txBody>
                  <a:tcPr>
                    <a:solidFill>
                      <a:srgbClr val="FFFFFF"/>
                    </a:solidFill>
                  </a:tcPr>
                </a:tc>
                <a:tc>
                  <a:txBody>
                    <a:bodyPr/>
                    <a:lstStyle/>
                    <a:p>
                      <a:r>
                        <a:rPr sz="1500">
                          <a:solidFill>
                            <a:srgbClr val="0B0B0B"/>
                          </a:solidFill>
                          <a:latin typeface="Calibri"/>
                        </a:rPr>
                        <a:t>0.69 — calibrated</a:t>
                      </a:r>
                    </a:p>
                  </a:txBody>
                  <a:tcPr>
                    <a:solidFill>
                      <a:srgbClr val="FFFFFF"/>
                    </a:solidFill>
                  </a:tcPr>
                </a:tc>
              </a:tr>
              <a:tr h="365760">
                <a:tc>
                  <a:txBody>
                    <a:bodyPr/>
                    <a:lstStyle/>
                    <a:p>
                      <a:r>
                        <a:rPr sz="1500">
                          <a:solidFill>
                            <a:srgbClr val="0B0B0B"/>
                          </a:solidFill>
                          <a:latin typeface="Calibri"/>
                        </a:rPr>
                        <a:t>fits that succeeded</a:t>
                      </a:r>
                    </a:p>
                  </a:txBody>
                  <a:tcPr>
                    <a:solidFill>
                      <a:srgbClr val="EEF3F8"/>
                    </a:solidFill>
                  </a:tcPr>
                </a:tc>
                <a:tc>
                  <a:txBody>
                    <a:bodyPr/>
                    <a:lstStyle/>
                    <a:p>
                      <a:r>
                        <a:rPr sz="1500">
                          <a:solidFill>
                            <a:srgbClr val="0B0B0B"/>
                          </a:solidFill>
                          <a:latin typeface="Calibri"/>
                        </a:rPr>
                        <a:t>3,271 (33 failed, GIOP)</a:t>
                      </a:r>
                    </a:p>
                  </a:txBody>
                  <a:tcPr>
                    <a:solidFill>
                      <a:srgbClr val="EEF3F8"/>
                    </a:solidFill>
                  </a:tcPr>
                </a:tc>
                <a:tc>
                  <a:txBody>
                    <a:bodyPr/>
                    <a:lstStyle/>
                    <a:p>
                      <a:r>
                        <a:rPr sz="1500">
                          <a:solidFill>
                            <a:srgbClr val="0B0B0B"/>
                          </a:solidFill>
                          <a:latin typeface="Calibri"/>
                        </a:rPr>
                        <a:t>3,304 ok, 16 out of scope, 0 failed</a:t>
                      </a:r>
                    </a:p>
                  </a:txBody>
                  <a:tcPr>
                    <a:solidFill>
                      <a:srgbClr val="EEF3F8"/>
                    </a:solidFill>
                  </a:tcPr>
                </a:tc>
              </a:tr>
              <a:tr h="365760">
                <a:tc>
                  <a:txBody>
                    <a:bodyPr/>
                    <a:lstStyle/>
                    <a:p>
                      <a:r>
                        <a:rPr sz="1500">
                          <a:solidFill>
                            <a:srgbClr val="0B0B0B"/>
                          </a:solidFill>
                          <a:latin typeface="Calibri"/>
                        </a:rPr>
                        <a:t>what the interval says about a_dg / a_ph</a:t>
                      </a:r>
                    </a:p>
                  </a:txBody>
                  <a:tcPr>
                    <a:solidFill>
                      <a:srgbClr val="FFFFFF"/>
                    </a:solidFill>
                  </a:tcPr>
                </a:tc>
                <a:tc>
                  <a:txBody>
                    <a:bodyPr/>
                    <a:lstStyle/>
                    <a:p>
                      <a:r>
                        <a:rPr sz="1500">
                          <a:solidFill>
                            <a:srgbClr val="0B0B0B"/>
                          </a:solidFill>
                          <a:latin typeface="Calibri"/>
                        </a:rPr>
                        <a:t>over-covers (0.94 / 0.97)</a:t>
                      </a:r>
                    </a:p>
                  </a:txBody>
                  <a:tcPr>
                    <a:solidFill>
                      <a:srgbClr val="FFFFFF"/>
                    </a:solidFill>
                  </a:tcPr>
                </a:tc>
                <a:tc>
                  <a:txBody>
                    <a:bodyPr/>
                    <a:lstStyle/>
                    <a:p>
                      <a:r>
                        <a:rPr sz="1500">
                          <a:solidFill>
                            <a:srgbClr val="0B0B0B"/>
                          </a:solidFill>
                          <a:latin typeface="Calibri"/>
                        </a:rPr>
                        <a:t>over-confident (0.63 / 0.58)</a:t>
                      </a:r>
                    </a:p>
                  </a:txBody>
                  <a:tcPr>
                    <a:solidFill>
                      <a:srgbClr val="FFFFFF"/>
                    </a:solidFill>
                  </a:tcPr>
                </a:tc>
              </a:tr>
            </a:tbl>
          </a:graphicData>
        </a:graphic>
      </p:graphicFrame>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The sampler is both more accurate and honest about total absorption; on the decomposition neither method's interval is right, which is the degeneracy again.</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27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expb_giop_L23_mcmc_full (2026-08-19/20), fit_method_compare_all.csv</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822960"/>
            <a:ext cx="10698480" cy="1463040"/>
          </a:xfrm>
          <a:prstGeom prst="rect">
            <a:avLst/>
          </a:prstGeom>
          <a:noFill/>
        </p:spPr>
        <p:txBody>
          <a:bodyPr wrap="square" anchor="t" lIns="45720" rIns="45720">
            <a:spAutoFit/>
          </a:bodyPr>
          <a:lstStyle/>
          <a:p>
            <a:pPr algn="l"/>
            <a:r>
              <a:rPr sz="3400" b="1" i="0">
                <a:solidFill>
                  <a:srgbClr val="FFFFFF"/>
                </a:solidFill>
                <a:latin typeface="Cambria"/>
              </a:rPr>
              <a:t>What the ladder and the benchmark say together</a:t>
            </a:r>
          </a:p>
        </p:txBody>
      </p:sp>
      <p:sp>
        <p:nvSpPr>
          <p:cNvPr id="3" name="TextBox 2"/>
          <p:cNvSpPr txBox="1"/>
          <p:nvPr/>
        </p:nvSpPr>
        <p:spPr>
          <a:xfrm>
            <a:off x="731520" y="2286000"/>
            <a:ext cx="10698480" cy="731520"/>
          </a:xfrm>
          <a:prstGeom prst="rect">
            <a:avLst/>
          </a:prstGeom>
          <a:noFill/>
        </p:spPr>
        <p:txBody>
          <a:bodyPr wrap="square" anchor="t" lIns="45720" rIns="45720">
            <a:spAutoFit/>
          </a:bodyPr>
          <a:lstStyle/>
          <a:p>
            <a:pPr algn="l"/>
            <a:r>
              <a:rPr sz="1800" b="0" i="0">
                <a:solidFill>
                  <a:srgbClr val="CADCFC"/>
                </a:solidFill>
                <a:latin typeface="Calibri"/>
              </a:rPr>
              <a:t>Chapter 3 in four lines</a:t>
            </a:r>
          </a:p>
        </p:txBody>
      </p:sp>
      <p:sp>
        <p:nvSpPr>
          <p:cNvPr id="4" name="TextBox 3"/>
          <p:cNvSpPr txBox="1"/>
          <p:nvPr/>
        </p:nvSpPr>
        <p:spPr>
          <a:xfrm>
            <a:off x="731520" y="3108960"/>
            <a:ext cx="10698480" cy="3108960"/>
          </a:xfrm>
          <a:prstGeom prst="rect">
            <a:avLst/>
          </a:prstGeom>
          <a:noFill/>
        </p:spPr>
        <p:txBody>
          <a:bodyPr wrap="square" anchor="t" lIns="45720" rIns="45720">
            <a:spAutoFit/>
          </a:bodyPr>
          <a:lstStyle/>
          <a:p>
            <a:pPr algn="l"/>
            <a:r>
              <a:rPr sz="1800" b="0" i="0">
                <a:solidFill>
                  <a:srgbClr val="FFFFFF"/>
                </a:solidFill>
                <a:latin typeface="Calibri"/>
              </a:rPr>
              <a:t>Fix the parameterization, vary the physics: backscatter error moves, absorption split does not.</a:t>
            </a:r>
          </a:p>
          <a:p>
            <a:pPr algn="l"/>
            <a:r>
              <a:rPr sz="1800" b="0" i="0">
                <a:solidFill>
                  <a:srgbClr val="FFFFFF"/>
                </a:solidFill>
                <a:latin typeface="Calibri"/>
              </a:rPr>
              <a:t>Fix the physics, vary the parameterization: absorption split moves by factors, totals hardly at all.</a:t>
            </a:r>
          </a:p>
          <a:p>
            <a:pPr algn="l"/>
            <a:r>
              <a:rPr sz="1800" b="0" i="0">
                <a:solidFill>
                  <a:srgbClr val="FFFFFF"/>
                </a:solidFill>
                <a:latin typeface="Calibri"/>
              </a:rPr>
              <a:t>Push the backscatter parameterization on turbid water: nothing changes; the forward model is the suspect, and the ladder is the test.</a:t>
            </a:r>
          </a:p>
          <a:p>
            <a:pPr algn="l"/>
            <a:r>
              <a:rPr sz="1800" b="0" i="0">
                <a:solidFill>
                  <a:srgbClr val="FFFFFF"/>
                </a:solidFill>
                <a:latin typeface="Calibri"/>
              </a:rPr>
              <a:t/>
            </a:r>
          </a:p>
          <a:p>
            <a:pPr algn="l"/>
            <a:r>
              <a:rPr sz="1800" b="0" i="0">
                <a:solidFill>
                  <a:srgbClr val="FFFFFF"/>
                </a:solidFill>
                <a:latin typeface="Calibri"/>
              </a:rPr>
              <a:t>Physics error is removable.  What remains is the parameterization, and it lives in a_ph versus a_dg.</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C3C2B7"/>
                </a:solidFill>
                <a:latin typeface="Calibri"/>
              </a:rPr>
              <a:t>28 / 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Chapter 4 — the same question one level up: MOANA and EPFT-UP</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MOANA (Lange+2020): NASA's operational PACE algorithm</a:t>
            </a:r>
          </a:p>
          <a:p>
            <a:pPr>
              <a:spcAft>
                <a:spcPts val="600"/>
              </a:spcAft>
            </a:pPr>
            <a:r>
              <a:rPr sz="1400" b="0">
                <a:solidFill>
                  <a:srgbClr val="0B0B0B"/>
                </a:solidFill>
                <a:latin typeface="Calibri"/>
              </a:rPr>
              <a:t>•  abundance of Prochlorococcus, Synechococcus and picoeukaryotes from hyperspectral R_rs and SST</a:t>
            </a:r>
          </a:p>
          <a:p>
            <a:pPr>
              <a:spcAft>
                <a:spcPts val="600"/>
              </a:spcAft>
            </a:pPr>
            <a:r>
              <a:rPr sz="1400" b="0">
                <a:solidFill>
                  <a:srgbClr val="0B0B0B"/>
                </a:solidFill>
                <a:latin typeface="Calibri"/>
              </a:rPr>
              <a:t>•  a principal-component regression trained on one cruise (AMT24)</a:t>
            </a:r>
          </a:p>
          <a:p>
            <a:pPr>
              <a:spcAft>
                <a:spcPts val="600"/>
              </a:spcAft>
            </a:pPr>
            <a:r>
              <a:rPr sz="1400" b="0">
                <a:solidFill>
                  <a:srgbClr val="0B0B0B"/>
                </a:solidFill>
                <a:latin typeface="Calibri"/>
              </a:rPr>
              <a:t>•  a parameterization whose retrieved quantity is a cell count, not an IOP</a:t>
            </a:r>
          </a:p>
          <a:p>
            <a:pPr>
              <a:spcAft>
                <a:spcPts val="600"/>
              </a:spcAft>
            </a:pPr>
            <a:r>
              <a:rPr sz="1400" b="1">
                <a:solidFill>
                  <a:srgbClr val="0B0B0B"/>
                </a:solidFill>
                <a:latin typeface="Calibri"/>
              </a:rPr>
              <a:t>•  EPFT-UP: empirical PFTs with uncertainty and provenance</a:t>
            </a:r>
          </a:p>
          <a:p>
            <a:pPr>
              <a:spcAft>
                <a:spcPts val="600"/>
              </a:spcAft>
            </a:pPr>
            <a:r>
              <a:rPr sz="1400" b="0">
                <a:solidFill>
                  <a:srgbClr val="0B0B0B"/>
                </a:solidFill>
                <a:latin typeface="Calibri"/>
              </a:rPr>
              <a:t>•  from-scratch reimplementation with QC flags in place of silent clipping</a:t>
            </a:r>
          </a:p>
          <a:p>
            <a:pPr>
              <a:spcAft>
                <a:spcPts val="600"/>
              </a:spcAft>
            </a:pPr>
            <a:r>
              <a:rPr sz="1400" b="0">
                <a:solidFill>
                  <a:srgbClr val="0B0B0B"/>
                </a:solidFill>
                <a:latin typeface="Calibri"/>
              </a:rPr>
              <a:t>•  every reported number regenerated by a script; vendored, checksum-pinned tables</a:t>
            </a:r>
          </a:p>
        </p:txBody>
      </p:sp>
      <p:sp>
        <p:nvSpPr>
          <p:cNvPr id="4" name="Rounded Rectangle 3"/>
          <p:cNvSpPr/>
          <p:nvPr/>
        </p:nvSpPr>
        <p:spPr>
          <a:xfrm>
            <a:off x="6277356" y="1463040"/>
            <a:ext cx="5454396"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14516" y="1600200"/>
            <a:ext cx="5180076" cy="914400"/>
          </a:xfrm>
          <a:prstGeom prst="rect">
            <a:avLst/>
          </a:prstGeom>
          <a:noFill/>
        </p:spPr>
        <p:txBody>
          <a:bodyPr wrap="square" anchor="ctr" lIns="45720" rIns="45720">
            <a:spAutoFit/>
          </a:bodyPr>
          <a:lstStyle/>
          <a:p>
            <a:pPr algn="ctr"/>
            <a:r>
              <a:rPr sz="4400" b="1" i="0">
                <a:solidFill>
                  <a:srgbClr val="1C7293"/>
                </a:solidFill>
                <a:latin typeface="Cambria"/>
              </a:rPr>
              <a:t>35 / 35</a:t>
            </a:r>
          </a:p>
        </p:txBody>
      </p:sp>
      <p:sp>
        <p:nvSpPr>
          <p:cNvPr id="6" name="TextBox 5"/>
          <p:cNvSpPr txBox="1"/>
          <p:nvPr/>
        </p:nvSpPr>
        <p:spPr>
          <a:xfrm>
            <a:off x="6414516" y="2468880"/>
            <a:ext cx="5180076" cy="640080"/>
          </a:xfrm>
          <a:prstGeom prst="rect">
            <a:avLst/>
          </a:prstGeom>
          <a:noFill/>
        </p:spPr>
        <p:txBody>
          <a:bodyPr wrap="square" anchor="t" lIns="45720" rIns="45720">
            <a:spAutoFit/>
          </a:bodyPr>
          <a:lstStyle/>
          <a:p>
            <a:pPr algn="ctr"/>
            <a:r>
              <a:rPr sz="1300" b="0" i="0">
                <a:solidFill>
                  <a:srgbClr val="52514E"/>
                </a:solidFill>
                <a:latin typeface="Calibri"/>
              </a:rPr>
              <a:t>report-printed numbers reproduced at printed precision after the code moved repositories; all six figures pixel-identical</a:t>
            </a:r>
          </a:p>
        </p:txBody>
      </p:sp>
      <p:sp>
        <p:nvSpPr>
          <p:cNvPr id="7" name="TextBox 6"/>
          <p:cNvSpPr txBox="1"/>
          <p:nvPr/>
        </p:nvSpPr>
        <p:spPr>
          <a:xfrm>
            <a:off x="6277356" y="3383280"/>
            <a:ext cx="5454396" cy="2468880"/>
          </a:xfrm>
          <a:prstGeom prst="rect">
            <a:avLst/>
          </a:prstGeom>
          <a:noFill/>
        </p:spPr>
        <p:txBody>
          <a:bodyPr wrap="square">
            <a:spAutoFit/>
          </a:bodyPr>
          <a:lstStyle/>
          <a:p>
            <a:pPr>
              <a:spcAft>
                <a:spcPts val="600"/>
              </a:spcAft>
            </a:pPr>
            <a:r>
              <a:rPr sz="1400" b="0">
                <a:solidFill>
                  <a:srgbClr val="0B0B0B"/>
                </a:solidFill>
                <a:latin typeface="Calibri"/>
              </a:rPr>
              <a:t>•  the only chapter with a passing re-derivation audit</a:t>
            </a:r>
          </a:p>
          <a:p>
            <a:pPr>
              <a:spcAft>
                <a:spcPts val="600"/>
              </a:spcAft>
            </a:pPr>
            <a:r>
              <a:rPr sz="1400" b="0">
                <a:solidFill>
                  <a:srgbClr val="0B0B0B"/>
                </a:solidFill>
                <a:latin typeface="Calibri"/>
              </a:rPr>
              <a:t>•  v0.1.0, Zenodo DOI 10.5281/zenodo.22797970</a:t>
            </a:r>
          </a:p>
        </p:txBody>
      </p:sp>
      <p:sp>
        <p:nvSpPr>
          <p:cNvPr id="8" name="TextBox 7"/>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29 / 40</a:t>
            </a:r>
          </a:p>
        </p:txBody>
      </p:sp>
      <p:sp>
        <p:nvSpPr>
          <p:cNvPr id="9" name="TextBox 8"/>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EPFT-UP v0.1.0: reports/MOANA_Claude_Report.md rev. 4; reports/moana_rederivation.md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Held out for the first time: picoeukaryotes transfer, the cyanobacteria do not</a:t>
            </a:r>
          </a:p>
        </p:txBody>
      </p:sp>
      <p:pic>
        <p:nvPicPr>
          <p:cNvPr id="3" name="Picture 2" descr="fig11_moana_heldout_skill.png"/>
          <p:cNvPicPr>
            <a:picLocks noChangeAspect="1"/>
          </p:cNvPicPr>
          <p:nvPr/>
        </p:nvPicPr>
        <p:blipFill>
          <a:blip r:embed="rId2"/>
          <a:stretch>
            <a:fillRect/>
          </a:stretch>
        </p:blipFill>
        <p:spPr>
          <a:xfrm>
            <a:off x="457200" y="1297565"/>
            <a:ext cx="11274552" cy="4354309"/>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Published MOANA coefficients on independent hyperspectral in-situ spectra (AMT23/25/28): picoeukaryotes bias 1.07, R² 0.78; Prochlorococcus bias 2.19, R² &lt; 0; Synechococcus R² −3.0.</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30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EPFT-UP v0.1.0: reports/MOANA_Claude_Report.md rev. 4; reports/moana_rederivation.md §12.3, n = 66–71 stations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Three findings about the operational product</a:t>
            </a:r>
          </a:p>
        </p:txBody>
      </p:sp>
      <p:sp>
        <p:nvSpPr>
          <p:cNvPr id="3" name="Rounded Rectangle 2"/>
          <p:cNvSpPr/>
          <p:nvPr/>
        </p:nvSpPr>
        <p:spPr>
          <a:xfrm>
            <a:off x="457200" y="1463040"/>
            <a:ext cx="3514344"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600200"/>
            <a:ext cx="3240024" cy="914400"/>
          </a:xfrm>
          <a:prstGeom prst="rect">
            <a:avLst/>
          </a:prstGeom>
          <a:noFill/>
        </p:spPr>
        <p:txBody>
          <a:bodyPr wrap="square" anchor="ctr" lIns="45720" rIns="45720">
            <a:spAutoFit/>
          </a:bodyPr>
          <a:lstStyle/>
          <a:p>
            <a:pPr algn="ctr"/>
            <a:r>
              <a:rPr sz="4400" b="1" i="0">
                <a:solidFill>
                  <a:srgbClr val="1C7293"/>
                </a:solidFill>
                <a:latin typeface="Cambria"/>
              </a:rPr>
              <a:t>100,000 px</a:t>
            </a:r>
          </a:p>
        </p:txBody>
      </p:sp>
      <p:sp>
        <p:nvSpPr>
          <p:cNvPr id="5" name="TextBox 4"/>
          <p:cNvSpPr txBox="1"/>
          <p:nvPr/>
        </p:nvSpPr>
        <p:spPr>
          <a:xfrm>
            <a:off x="594360" y="2468880"/>
            <a:ext cx="3240024" cy="640080"/>
          </a:xfrm>
          <a:prstGeom prst="rect">
            <a:avLst/>
          </a:prstGeom>
          <a:noFill/>
        </p:spPr>
        <p:txBody>
          <a:bodyPr wrap="square" anchor="t" lIns="45720" rIns="45720">
            <a:spAutoFit/>
          </a:bodyPr>
          <a:lstStyle/>
          <a:p>
            <a:pPr algn="ctr"/>
            <a:r>
              <a:rPr sz="1300" b="0" i="0">
                <a:solidFill>
                  <a:srgbClr val="52514E"/>
                </a:solidFill>
                <a:latin typeface="Calibri"/>
              </a:rPr>
              <a:t>granule test: the shipping product uses the operational, not the published, coefficient assignment</a:t>
            </a:r>
          </a:p>
        </p:txBody>
      </p:sp>
      <p:sp>
        <p:nvSpPr>
          <p:cNvPr id="6" name="TextBox 5"/>
          <p:cNvSpPr txBox="1"/>
          <p:nvPr/>
        </p:nvSpPr>
        <p:spPr>
          <a:xfrm>
            <a:off x="457200" y="3383280"/>
            <a:ext cx="3514344" cy="2468880"/>
          </a:xfrm>
          <a:prstGeom prst="rect">
            <a:avLst/>
          </a:prstGeom>
          <a:noFill/>
        </p:spPr>
        <p:txBody>
          <a:bodyPr wrap="square">
            <a:spAutoFit/>
          </a:bodyPr>
          <a:lstStyle/>
          <a:p>
            <a:pPr>
              <a:spcAft>
                <a:spcPts val="600"/>
              </a:spcAft>
            </a:pPr>
            <a:r>
              <a:rPr sz="1400" b="0">
                <a:solidFill>
                  <a:srgbClr val="0B0B0B"/>
                </a:solidFill>
                <a:latin typeface="Calibri"/>
              </a:rPr>
              <a:t>•  Synechococcus median Δlog₁₀ −0.005 (operational) vs +0.082 (published)</a:t>
            </a:r>
          </a:p>
        </p:txBody>
      </p:sp>
      <p:sp>
        <p:nvSpPr>
          <p:cNvPr id="7" name="Rounded Rectangle 6"/>
          <p:cNvSpPr/>
          <p:nvPr/>
        </p:nvSpPr>
        <p:spPr>
          <a:xfrm>
            <a:off x="4337304" y="1463040"/>
            <a:ext cx="3514344"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74464" y="1600200"/>
            <a:ext cx="3240024" cy="914400"/>
          </a:xfrm>
          <a:prstGeom prst="rect">
            <a:avLst/>
          </a:prstGeom>
          <a:noFill/>
        </p:spPr>
        <p:txBody>
          <a:bodyPr wrap="square" anchor="ctr" lIns="45720" rIns="45720">
            <a:spAutoFit/>
          </a:bodyPr>
          <a:lstStyle/>
          <a:p>
            <a:pPr algn="ctr"/>
            <a:r>
              <a:rPr sz="4400" b="1" i="0">
                <a:solidFill>
                  <a:srgbClr val="1C7293"/>
                </a:solidFill>
                <a:latin typeface="Cambria"/>
              </a:rPr>
              <a:t>18 %</a:t>
            </a:r>
          </a:p>
        </p:txBody>
      </p:sp>
      <p:sp>
        <p:nvSpPr>
          <p:cNvPr id="9" name="TextBox 8"/>
          <p:cNvSpPr txBox="1"/>
          <p:nvPr/>
        </p:nvSpPr>
        <p:spPr>
          <a:xfrm>
            <a:off x="4474464" y="2468880"/>
            <a:ext cx="3240024" cy="640080"/>
          </a:xfrm>
          <a:prstGeom prst="rect">
            <a:avLst/>
          </a:prstGeom>
          <a:noFill/>
        </p:spPr>
        <p:txBody>
          <a:bodyPr wrap="square" anchor="t" lIns="45720" rIns="45720">
            <a:spAutoFit/>
          </a:bodyPr>
          <a:lstStyle/>
          <a:p>
            <a:pPr algn="ctr"/>
            <a:r>
              <a:rPr sz="1300" b="0" i="0">
                <a:solidFill>
                  <a:srgbClr val="52514E"/>
                </a:solidFill>
                <a:latin typeface="Calibri"/>
              </a:rPr>
              <a:t>of Prochlorococcus retrievals in the product are exactly zero — clipped, not measured</a:t>
            </a:r>
          </a:p>
        </p:txBody>
      </p:sp>
      <p:sp>
        <p:nvSpPr>
          <p:cNvPr id="10" name="TextBox 9"/>
          <p:cNvSpPr txBox="1"/>
          <p:nvPr/>
        </p:nvSpPr>
        <p:spPr>
          <a:xfrm>
            <a:off x="4337304" y="3383280"/>
            <a:ext cx="3514344" cy="2468880"/>
          </a:xfrm>
          <a:prstGeom prst="rect">
            <a:avLst/>
          </a:prstGeom>
          <a:noFill/>
        </p:spPr>
        <p:txBody>
          <a:bodyPr wrap="square">
            <a:spAutoFit/>
          </a:bodyPr>
          <a:lstStyle/>
          <a:p>
            <a:pPr>
              <a:spcAft>
                <a:spcPts val="600"/>
              </a:spcAft>
            </a:pPr>
            <a:r>
              <a:rPr sz="1400" b="0">
                <a:solidFill>
                  <a:srgbClr val="0B0B0B"/>
                </a:solidFill>
                <a:latin typeface="Calibri"/>
              </a:rPr>
              <a:t>•  8.9 % for Synechococcus; land encoded inside the valid range</a:t>
            </a:r>
          </a:p>
        </p:txBody>
      </p:sp>
      <p:sp>
        <p:nvSpPr>
          <p:cNvPr id="11" name="Rounded Rectangle 10"/>
          <p:cNvSpPr/>
          <p:nvPr/>
        </p:nvSpPr>
        <p:spPr>
          <a:xfrm>
            <a:off x="8217408" y="1463040"/>
            <a:ext cx="3514344"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4568" y="1600200"/>
            <a:ext cx="3240024" cy="914400"/>
          </a:xfrm>
          <a:prstGeom prst="rect">
            <a:avLst/>
          </a:prstGeom>
          <a:noFill/>
        </p:spPr>
        <p:txBody>
          <a:bodyPr wrap="square" anchor="ctr" lIns="45720" rIns="45720">
            <a:spAutoFit/>
          </a:bodyPr>
          <a:lstStyle/>
          <a:p>
            <a:pPr algn="ctr"/>
            <a:r>
              <a:rPr sz="4400" b="1" i="0">
                <a:solidFill>
                  <a:srgbClr val="1C7293"/>
                </a:solidFill>
                <a:latin typeface="Cambria"/>
              </a:rPr>
              <a:t>|cos| 0.999</a:t>
            </a:r>
          </a:p>
        </p:txBody>
      </p:sp>
      <p:sp>
        <p:nvSpPr>
          <p:cNvPr id="13" name="TextBox 12"/>
          <p:cNvSpPr txBox="1"/>
          <p:nvPr/>
        </p:nvSpPr>
        <p:spPr>
          <a:xfrm>
            <a:off x="8354568" y="2468880"/>
            <a:ext cx="3240024" cy="640080"/>
          </a:xfrm>
          <a:prstGeom prst="rect">
            <a:avLst/>
          </a:prstGeom>
          <a:noFill/>
        </p:spPr>
        <p:txBody>
          <a:bodyPr wrap="square" anchor="t" lIns="45720" rIns="45720">
            <a:spAutoFit/>
          </a:bodyPr>
          <a:lstStyle/>
          <a:p>
            <a:pPr algn="ctr"/>
            <a:r>
              <a:rPr sz="1300" b="0" i="0">
                <a:solidFill>
                  <a:srgbClr val="52514E"/>
                </a:solidFill>
                <a:latin typeface="Calibri"/>
              </a:rPr>
              <a:t>NASA's PCA basis recovered from the raw training cruise on the leading component (0.998 on the second)</a:t>
            </a:r>
          </a:p>
        </p:txBody>
      </p:sp>
      <p:sp>
        <p:nvSpPr>
          <p:cNvPr id="14" name="TextBox 13"/>
          <p:cNvSpPr txBox="1"/>
          <p:nvPr/>
        </p:nvSpPr>
        <p:spPr>
          <a:xfrm>
            <a:off x="8217408" y="3383280"/>
            <a:ext cx="3514344" cy="2468880"/>
          </a:xfrm>
          <a:prstGeom prst="rect">
            <a:avLst/>
          </a:prstGeom>
          <a:noFill/>
        </p:spPr>
        <p:txBody>
          <a:bodyPr wrap="square">
            <a:spAutoFit/>
          </a:bodyPr>
          <a:lstStyle/>
          <a:p>
            <a:pPr>
              <a:spcAft>
                <a:spcPts val="600"/>
              </a:spcAft>
            </a:pPr>
            <a:r>
              <a:rPr sz="1400" b="0">
                <a:solidFill>
                  <a:srgbClr val="0B0B0B"/>
                </a:solidFill>
                <a:latin typeface="Calibri"/>
              </a:rPr>
              <a:t>•  Lange Table 1 reproduced in the CTD-only configuration</a:t>
            </a:r>
          </a:p>
        </p:txBody>
      </p:sp>
      <p:sp>
        <p:nvSpPr>
          <p:cNvPr id="15" name="TextBox 1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31 / 40</a:t>
            </a:r>
          </a:p>
        </p:txBody>
      </p:sp>
      <p:sp>
        <p:nvSpPr>
          <p:cNvPr id="16" name="TextBox 1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EPFT-UP v0.1.0: reports/MOANA_Claude_Report.md rev. 4; reports/moana_rederivation.md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Status and the one blocker</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Exists</a:t>
            </a:r>
          </a:p>
          <a:p>
            <a:pPr>
              <a:spcAft>
                <a:spcPts val="600"/>
              </a:spcAft>
            </a:pPr>
            <a:r>
              <a:rPr sz="1500" b="0">
                <a:solidFill>
                  <a:srgbClr val="0B0B0B"/>
                </a:solidFill>
                <a:latin typeface="Calibri"/>
              </a:rPr>
              <a:t>•  report rev. 4; re-derivation audit (PASS); README; 16-page documentation site; CI; CITATION.cff; v0.1.0 with DOI</a:t>
            </a:r>
          </a:p>
          <a:p>
            <a:pPr>
              <a:spcAft>
                <a:spcPts val="600"/>
              </a:spcAft>
            </a:pPr>
            <a:r>
              <a:rPr sz="1500" b="1">
                <a:solidFill>
                  <a:srgbClr val="0B0B0B"/>
                </a:solidFill>
                <a:latin typeface="Calibri"/>
              </a:rPr>
              <a:t>•  Blocked</a:t>
            </a:r>
          </a:p>
          <a:p>
            <a:pPr>
              <a:spcAft>
                <a:spcPts val="600"/>
              </a:spcAft>
            </a:pPr>
            <a:r>
              <a:rPr sz="1500" b="0">
                <a:solidFill>
                  <a:srgbClr val="0B0B0B"/>
                </a:solidFill>
                <a:latin typeface="Calibri"/>
              </a:rPr>
              <a:t>•  the full retrain on AMT24 needs the underway flow-cytometry counts, held at Plymouth Marine Laboratory and in no public archive</a:t>
            </a:r>
          </a:p>
          <a:p>
            <a:pPr>
              <a:spcAft>
                <a:spcPts val="600"/>
              </a:spcAft>
            </a:pPr>
            <a:r>
              <a:rPr sz="1500" b="0">
                <a:solidFill>
                  <a:srgbClr val="0B0B0B"/>
                </a:solidFill>
                <a:latin typeface="Calibri"/>
              </a:rPr>
              <a:t>•  two requests have not yet produced them; the wording looks like the problem, not a refusal</a:t>
            </a:r>
          </a:p>
          <a:p>
            <a:pPr>
              <a:spcAft>
                <a:spcPts val="600"/>
              </a:spcAft>
            </a:pPr>
            <a:r>
              <a:rPr sz="1500" b="1">
                <a:solidFill>
                  <a:srgbClr val="0B0B0B"/>
                </a:solidFill>
                <a:latin typeface="Calibri"/>
              </a:rPr>
              <a:t>•  Chapter written to stand without the retrain</a:t>
            </a:r>
          </a:p>
          <a:p>
            <a:pPr>
              <a:spcAft>
                <a:spcPts val="600"/>
              </a:spcAft>
            </a:pPr>
            <a:r>
              <a:rPr sz="1500" b="0">
                <a:solidFill>
                  <a:srgbClr val="0B0B0B"/>
                </a:solidFill>
                <a:latin typeface="Calibri"/>
              </a:rPr>
              <a:t>•  the audit and the transfer test are the evidence; the retrain is an upgrade, not a rescue</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How it fits the claim</a:t>
            </a:r>
          </a:p>
          <a:p>
            <a:pPr>
              <a:spcAft>
                <a:spcPts val="600"/>
              </a:spcAft>
            </a:pPr>
            <a:r>
              <a:rPr sz="1500" b="0">
                <a:solidFill>
                  <a:srgbClr val="0B0B0B"/>
                </a:solidFill>
                <a:latin typeface="Calibri"/>
              </a:rPr>
              <a:t>•  a parameterization tuned on one cruise fails to transfer for two of three groups —</a:t>
            </a:r>
          </a:p>
          <a:p>
            <a:pPr>
              <a:spcAft>
                <a:spcPts val="600"/>
              </a:spcAft>
            </a:pPr>
            <a:r>
              <a:rPr sz="1500" b="0">
                <a:solidFill>
                  <a:srgbClr val="0B0B0B"/>
                </a:solidFill>
                <a:latin typeface="Calibri"/>
              </a:rPr>
              <a:t>•  the same shape as a_ph vs a_dg: the model is right where the training sampled the signal broadly and wrong where it did not</a:t>
            </a:r>
          </a:p>
          <a:p>
            <a:pPr>
              <a:spcAft>
                <a:spcPts val="600"/>
              </a:spcAft>
            </a:pPr>
            <a:r>
              <a:rPr sz="1500" b="1">
                <a:solidFill>
                  <a:srgbClr val="0B0B0B"/>
                </a:solidFill>
                <a:latin typeface="Calibri"/>
              </a:rPr>
              <a:t>•  Out of scope</a:t>
            </a:r>
          </a:p>
          <a:p>
            <a:pPr>
              <a:spcAft>
                <a:spcPts val="600"/>
              </a:spcAft>
            </a:pPr>
            <a:r>
              <a:rPr sz="1500" b="0">
                <a:solidFill>
                  <a:srgbClr val="0B0B0B"/>
                </a:solidFill>
                <a:latin typeface="Calibri"/>
              </a:rPr>
              <a:t>•  the diatom work on a collaborator's algorithm, on a branch of the same repository</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32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EPFT-UP v0.1.0: reports/MOANA_Claude_Report.md rev. 4; reports/moana_rederivation.md; reports/moana_blocked.md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Chapter 5 — PACE against BGC-Argo at mission scale</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500" b="1">
                <a:solidFill>
                  <a:srgbClr val="0B0B0B"/>
                </a:solidFill>
                <a:latin typeface="Calibri"/>
              </a:rPr>
              <a:t>•  PAB: every PACE L2 pixel within 5 km and 24 h of a float surfacing</a:t>
            </a:r>
          </a:p>
          <a:p>
            <a:pPr>
              <a:spcAft>
                <a:spcPts val="600"/>
              </a:spcAft>
            </a:pPr>
            <a:r>
              <a:rPr sz="1500" b="0">
                <a:solidFill>
                  <a:srgbClr val="0B0B0B"/>
                </a:solidFill>
                <a:latin typeface="Calibri"/>
              </a:rPr>
              <a:t>•  BING fitted to the pixel; float chlorophyll, backscatter and CDOM fluorescence as independent truth</a:t>
            </a:r>
          </a:p>
          <a:p>
            <a:pPr>
              <a:spcAft>
                <a:spcPts val="600"/>
              </a:spcAft>
            </a:pPr>
            <a:r>
              <a:rPr sz="1500" b="1">
                <a:solidFill>
                  <a:srgbClr val="0B0B0B"/>
                </a:solidFill>
                <a:latin typeface="Calibri"/>
              </a:rPr>
              <a:t>•  Production run (pab_version 1.0, 2026-08-20, Nautilus cluster)</a:t>
            </a:r>
          </a:p>
          <a:p>
            <a:pPr>
              <a:spcAft>
                <a:spcPts val="600"/>
              </a:spcAft>
            </a:pPr>
            <a:r>
              <a:rPr sz="1500" b="0">
                <a:solidFill>
                  <a:srgbClr val="0B0B0B"/>
                </a:solidFill>
                <a:latin typeface="Calibri"/>
              </a:rPr>
              <a:t>•  881 floats · 54,031 profiles · 67,435 granules · 14,610 matchups · 14,609 fits</a:t>
            </a:r>
          </a:p>
          <a:p>
            <a:pPr>
              <a:spcAft>
                <a:spcPts val="600"/>
              </a:spcAft>
            </a:pPr>
            <a:r>
              <a:rPr sz="1500" b="0">
                <a:solidFill>
                  <a:srgbClr val="0B0B0B"/>
                </a:solidFill>
                <a:latin typeface="Calibri"/>
              </a:rPr>
              <a:t>•  median separation 0.80 km, median Δt 10.2 h</a:t>
            </a:r>
          </a:p>
          <a:p>
            <a:pPr>
              <a:spcAft>
                <a:spcPts val="600"/>
              </a:spcAft>
            </a:pPr>
            <a:r>
              <a:rPr sz="1500" b="0">
                <a:solidFill>
                  <a:srgbClr val="0B0B0B"/>
                </a:solidFill>
                <a:latin typeface="Calibri"/>
              </a:rPr>
              <a:t>•  published as a SQLite database on s3://pab; 18 GB of chains backed up</a:t>
            </a:r>
          </a:p>
        </p:txBody>
      </p:sp>
      <p:sp>
        <p:nvSpPr>
          <p:cNvPr id="4" name="Rounded Rectangle 3"/>
          <p:cNvSpPr/>
          <p:nvPr/>
        </p:nvSpPr>
        <p:spPr>
          <a:xfrm>
            <a:off x="6277356" y="1463040"/>
            <a:ext cx="5454396" cy="1737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14516" y="1600200"/>
            <a:ext cx="5180076" cy="914400"/>
          </a:xfrm>
          <a:prstGeom prst="rect">
            <a:avLst/>
          </a:prstGeom>
          <a:noFill/>
        </p:spPr>
        <p:txBody>
          <a:bodyPr wrap="square" anchor="ctr" lIns="45720" rIns="45720">
            <a:spAutoFit/>
          </a:bodyPr>
          <a:lstStyle/>
          <a:p>
            <a:pPr algn="ctr"/>
            <a:r>
              <a:rPr sz="4400" b="1" i="0">
                <a:solidFill>
                  <a:srgbClr val="1C7293"/>
                </a:solidFill>
                <a:latin typeface="Cambria"/>
              </a:rPr>
              <a:t>9,814</a:t>
            </a:r>
          </a:p>
        </p:txBody>
      </p:sp>
      <p:sp>
        <p:nvSpPr>
          <p:cNvPr id="6" name="TextBox 5"/>
          <p:cNvSpPr txBox="1"/>
          <p:nvPr/>
        </p:nvSpPr>
        <p:spPr>
          <a:xfrm>
            <a:off x="6414516" y="2468880"/>
            <a:ext cx="5180076" cy="640080"/>
          </a:xfrm>
          <a:prstGeom prst="rect">
            <a:avLst/>
          </a:prstGeom>
          <a:noFill/>
        </p:spPr>
        <p:txBody>
          <a:bodyPr wrap="square" anchor="t" lIns="45720" rIns="45720">
            <a:spAutoFit/>
          </a:bodyPr>
          <a:lstStyle/>
          <a:p>
            <a:pPr algn="ctr"/>
            <a:r>
              <a:rPr sz="1300" b="0" i="0">
                <a:solidFill>
                  <a:srgbClr val="52514E"/>
                </a:solidFill>
                <a:latin typeface="Calibri"/>
              </a:rPr>
              <a:t>matchups with valid chlorophyll in the Chl-a report</a:t>
            </a:r>
          </a:p>
        </p:txBody>
      </p:sp>
      <p:sp>
        <p:nvSpPr>
          <p:cNvPr id="7" name="TextBox 6"/>
          <p:cNvSpPr txBox="1"/>
          <p:nvPr/>
        </p:nvSpPr>
        <p:spPr>
          <a:xfrm>
            <a:off x="6277356" y="3383280"/>
            <a:ext cx="5454396" cy="2468880"/>
          </a:xfrm>
          <a:prstGeom prst="rect">
            <a:avLst/>
          </a:prstGeom>
          <a:noFill/>
        </p:spPr>
        <p:txBody>
          <a:bodyPr wrap="square">
            <a:spAutoFit/>
          </a:bodyPr>
          <a:lstStyle/>
          <a:p>
            <a:pPr>
              <a:spcAft>
                <a:spcPts val="600"/>
              </a:spcAft>
            </a:pPr>
            <a:r>
              <a:rPr sz="1400" b="0">
                <a:solidFill>
                  <a:srgbClr val="0B0B0B"/>
                </a:solidFill>
                <a:latin typeface="Calibri"/>
              </a:rPr>
              <a:t>•  58 % PACE &gt; Argo; median +0.13; rank correlation 0.78</a:t>
            </a:r>
          </a:p>
          <a:p>
            <a:pPr>
              <a:spcAft>
                <a:spcPts val="600"/>
              </a:spcAft>
            </a:pPr>
            <a:r>
              <a:rPr sz="1400" b="0">
                <a:solidFill>
                  <a:srgbClr val="0B0B0B"/>
                </a:solidFill>
                <a:latin typeface="Calibri"/>
              </a:rPr>
              <a:t>•  no single bias describes the population — next slide</a:t>
            </a:r>
          </a:p>
        </p:txBody>
      </p:sp>
      <p:sp>
        <p:nvSpPr>
          <p:cNvPr id="8" name="TextBox 7"/>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33 / 40</a:t>
            </a:r>
          </a:p>
        </p:txBody>
      </p:sp>
      <p:sp>
        <p:nvSpPr>
          <p:cNvPr id="9" name="TextBox 8"/>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PAB reports/PAB/pab_chl_matchups_report.md (2026-09-07); pab_version 1.0; docs/design/PAB_full_run_report.md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The chlorophyll bias changes sign with concentration</a:t>
            </a:r>
          </a:p>
        </p:txBody>
      </p:sp>
      <p:pic>
        <p:nvPicPr>
          <p:cNvPr id="3" name="Picture 2" descr="fig12_pab_chl_bias_vs_magnitude.png"/>
          <p:cNvPicPr>
            <a:picLocks noChangeAspect="1"/>
          </p:cNvPicPr>
          <p:nvPr/>
        </p:nvPicPr>
        <p:blipFill>
          <a:blip r:embed="rId2"/>
          <a:stretch>
            <a:fillRect/>
          </a:stretch>
        </p:blipFill>
        <p:spPr>
          <a:xfrm>
            <a:off x="2755905" y="1188720"/>
            <a:ext cx="6649708" cy="457200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Octile medians +0.65 in the clearest water to −0.8 in the richest, zero crossing near 0.1–0.2 mg m⁻³.  Geometry and PACE quality ruled out: the highest-quality subset is more biased (+0.22).</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34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PAB reports/PAB/pab_chl_matchups_report.md (2026-09-07); pab_version 1.0 §3, n = 9,814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The in-situ reference is itself ambiguous, by a factor of ~4.5</a:t>
            </a:r>
          </a:p>
        </p:txBody>
      </p:sp>
      <p:pic>
        <p:nvPicPr>
          <p:cNvPr id="3" name="Picture 2" descr="fig13_pab_chl_raw_vs_adjusted.png"/>
          <p:cNvPicPr>
            <a:picLocks noChangeAspect="1"/>
          </p:cNvPicPr>
          <p:nvPr/>
        </p:nvPicPr>
        <p:blipFill>
          <a:blip r:embed="rId2"/>
          <a:stretch>
            <a:fillRect/>
          </a:stretch>
        </p:blipFill>
        <p:spPr>
          <a:xfrm>
            <a:off x="2757087" y="1188720"/>
            <a:ext cx="6647344" cy="457200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Scoring against delayed-mode-adjusted rather than raw Argo chlorophyll moves the median from +0.13 to +0.58.  Ruling: adjusted is the headline, raw the sensitivity band.</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35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PAB reports/PAB/pab_chl_matchups_report.md (2026-09-07); pab_version 1.0 §6; chla_adjusted populated for 93.4 %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What else the matchups say, and what is excluded</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Ruled out as drivers</a:t>
            </a:r>
          </a:p>
          <a:p>
            <a:pPr>
              <a:spcAft>
                <a:spcPts val="600"/>
              </a:spcAft>
            </a:pPr>
            <a:r>
              <a:rPr sz="1400" b="0">
                <a:solidFill>
                  <a:srgbClr val="0B0B0B"/>
                </a:solidFill>
                <a:latin typeface="Calibri"/>
              </a:rPr>
              <a:t>•  time separation (+0.05 to +0.35 by octile), distance (+0.10 to +0.15), PACE flags (quality subset +0.22)</a:t>
            </a:r>
          </a:p>
          <a:p>
            <a:pPr>
              <a:spcAft>
                <a:spcPts val="600"/>
              </a:spcAft>
            </a:pPr>
            <a:r>
              <a:rPr sz="1400" b="1">
                <a:solidFill>
                  <a:srgbClr val="0B0B0B"/>
                </a:solidFill>
                <a:latin typeface="Calibri"/>
              </a:rPr>
              <a:t>•  Structure that remains</a:t>
            </a:r>
          </a:p>
          <a:p>
            <a:pPr>
              <a:spcAft>
                <a:spcPts val="600"/>
              </a:spcAft>
            </a:pPr>
            <a:r>
              <a:rPr sz="1400" b="0">
                <a:solidFill>
                  <a:srgbClr val="0B0B0B"/>
                </a:solidFill>
                <a:latin typeface="Calibri"/>
              </a:rPr>
              <a:t>•  Southern Ocean −0.53 against +0.14 to +0.35 elsewhere; season +0.15–0.20 (Mar–Oct) vs +0.03–0.09</a:t>
            </a:r>
          </a:p>
          <a:p>
            <a:pPr>
              <a:spcAft>
                <a:spcPts val="600"/>
              </a:spcAft>
            </a:pPr>
            <a:r>
              <a:rPr sz="1400" b="0">
                <a:solidFill>
                  <a:srgbClr val="0B0B0B"/>
                </a:solidFill>
                <a:latin typeface="Calibri"/>
              </a:rPr>
              <a:t>•  AOML-processed floats +0.06 vs +0.25 for all other data centres</a:t>
            </a:r>
          </a:p>
          <a:p>
            <a:pPr>
              <a:spcAft>
                <a:spcPts val="600"/>
              </a:spcAft>
            </a:pPr>
            <a:r>
              <a:rPr sz="1400" b="1">
                <a:solidFill>
                  <a:srgbClr val="0B0B0B"/>
                </a:solidFill>
                <a:latin typeface="Calibri"/>
              </a:rPr>
              <a:t>•  Mechanism candidate</a:t>
            </a:r>
          </a:p>
          <a:p>
            <a:pPr>
              <a:spcAft>
                <a:spcPts val="600"/>
              </a:spcAft>
            </a:pPr>
            <a:r>
              <a:rPr sz="1400" b="0">
                <a:solidFill>
                  <a:srgbClr val="0B0B0B"/>
                </a:solidFill>
                <a:latin typeface="Calibri"/>
              </a:rPr>
              <a:t>•  bias vs fitted a_dg: ρ = −0.24 — dissolved absorption aliased into the phytoplankton term at high a_dg</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CDOM: qualitative by design</a:t>
            </a:r>
          </a:p>
          <a:p>
            <a:pPr>
              <a:spcAft>
                <a:spcPts val="600"/>
              </a:spcAft>
            </a:pPr>
            <a:r>
              <a:rPr sz="1400" b="0">
                <a:solidFill>
                  <a:srgbClr val="0B0B0B"/>
                </a:solidFill>
                <a:latin typeface="Calibri"/>
              </a:rPr>
              <a:t>•  float measures fluorescence in relative units; BING retrieves an absorption; the fleet's CDOM sensors carry an unapplied 5.6× correction</a:t>
            </a:r>
          </a:p>
          <a:p>
            <a:pPr>
              <a:spcAft>
                <a:spcPts val="600"/>
              </a:spcAft>
            </a:pPr>
            <a:r>
              <a:rPr sz="1400" b="0">
                <a:solidFill>
                  <a:srgbClr val="0B0B0B"/>
                </a:solidFill>
                <a:latin typeface="Calibri"/>
              </a:rPr>
              <a:t>•  rank correlation +0.13 on 3,676 restricted matchups — that is all that is claimed</a:t>
            </a:r>
          </a:p>
          <a:p>
            <a:pPr>
              <a:spcAft>
                <a:spcPts val="600"/>
              </a:spcAft>
            </a:pPr>
            <a:r>
              <a:rPr sz="1400" b="1">
                <a:solidFill>
                  <a:srgbClr val="0B0B0B"/>
                </a:solidFill>
                <a:latin typeface="Calibri"/>
              </a:rPr>
              <a:t>•  Excluded</a:t>
            </a:r>
          </a:p>
          <a:p>
            <a:pPr>
              <a:spcAft>
                <a:spcPts val="600"/>
              </a:spcAft>
            </a:pPr>
            <a:r>
              <a:rPr sz="1400" b="0">
                <a:solidFill>
                  <a:srgbClr val="0B0B0B"/>
                </a:solidFill>
                <a:latin typeface="Calibri"/>
              </a:rPr>
              <a:t>•  PACE-vs-Argo backscatter validation is a collaborator's thesis</a:t>
            </a:r>
          </a:p>
          <a:p>
            <a:pPr>
              <a:spcAft>
                <a:spcPts val="600"/>
              </a:spcAft>
            </a:pPr>
            <a:r>
              <a:rPr sz="1400" b="0">
                <a:solidFill>
                  <a:srgbClr val="0B0B0B"/>
                </a:solidFill>
                <a:latin typeface="Calibri"/>
              </a:rPr>
              <a:t>•  A NASA GIOP retrofit over all 14,609 matchups: BING and GIOP agree on sign and share a low-concentration overestimate — the boundary condition taken from it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36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PAB reports/PAB/pab_chl_matchups_report.md (2026-09-07); pab_version 1.0; pab_cdom_matchups_report.md v1.0; claude_prompts/pace_giop_gsm.md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PAB 2.0: the mission-scale echo of the RT ladder, under way</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What it is</a:t>
            </a:r>
          </a:p>
          <a:p>
            <a:pPr>
              <a:spcAft>
                <a:spcPts val="600"/>
              </a:spcAft>
            </a:pPr>
            <a:r>
              <a:rPr sz="1400" b="0">
                <a:solidFill>
                  <a:srgbClr val="0B0B0B"/>
                </a:solidFill>
                <a:latin typeface="Calibri"/>
              </a:rPr>
              <a:t>•  re-fit of every matchup under the inelastic forward model of Chapter 2 (robust_hybrid + Raman + Chl fluorescence)</a:t>
            </a:r>
          </a:p>
          <a:p>
            <a:pPr>
              <a:spcAft>
                <a:spcPts val="600"/>
              </a:spcAft>
            </a:pPr>
            <a:r>
              <a:rPr sz="1400" b="0">
                <a:solidFill>
                  <a:srgbClr val="0B0B0B"/>
                </a:solidFill>
                <a:latin typeface="Calibri"/>
              </a:rPr>
              <a:t>•  per-pixel solar and sensor geometry read from the PACE L1B granule (the L2 product carries none)</a:t>
            </a:r>
          </a:p>
          <a:p>
            <a:pPr>
              <a:spcAft>
                <a:spcPts val="600"/>
              </a:spcAft>
            </a:pPr>
            <a:r>
              <a:rPr sz="1400" b="0">
                <a:solidFill>
                  <a:srgbClr val="0B0B0B"/>
                </a:solidFill>
                <a:latin typeface="Calibri"/>
              </a:rPr>
              <a:t>•  free B_p; version-aware ids; separate 2.0 database</a:t>
            </a:r>
          </a:p>
          <a:p>
            <a:pPr>
              <a:spcAft>
                <a:spcPts val="600"/>
              </a:spcAft>
            </a:pPr>
            <a:r>
              <a:rPr sz="1400" b="1">
                <a:solidFill>
                  <a:srgbClr val="0B0B0B"/>
                </a:solidFill>
                <a:latin typeface="Calibri"/>
              </a:rPr>
              <a:t>•  Status (2026-09-17)</a:t>
            </a:r>
          </a:p>
          <a:p>
            <a:pPr>
              <a:spcAft>
                <a:spcPts val="600"/>
              </a:spcAft>
            </a:pPr>
            <a:r>
              <a:rPr sz="1400" b="0">
                <a:solidFill>
                  <a:srgbClr val="0B0B0B"/>
                </a:solidFill>
                <a:latin typeface="Calibri"/>
              </a:rPr>
              <a:t>•  pipeline built; image validated in-cluster; backfill of 1,690 never-attempted profiles planned</a:t>
            </a:r>
          </a:p>
          <a:p>
            <a:pPr>
              <a:spcAft>
                <a:spcPts val="600"/>
              </a:spcAft>
            </a:pPr>
            <a:r>
              <a:rPr sz="1400" b="0">
                <a:solidFill>
                  <a:srgbClr val="0B0B0B"/>
                </a:solidFill>
                <a:latin typeface="Calibri"/>
              </a:rPr>
              <a:t>•  first 60 real fits: 2.0 retrieves 26 % less b_bp(700) than 1.0</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What it will answer</a:t>
            </a:r>
          </a:p>
          <a:p>
            <a:pPr>
              <a:spcAft>
                <a:spcPts val="600"/>
              </a:spcAft>
            </a:pPr>
            <a:r>
              <a:rPr sz="1400" b="0">
                <a:solidFill>
                  <a:srgbClr val="0B0B0B"/>
                </a:solidFill>
                <a:latin typeface="Calibri"/>
              </a:rPr>
              <a:t>•  does the chlorophyll sign change survive the physics?  (the claim says yes)</a:t>
            </a:r>
          </a:p>
          <a:p>
            <a:pPr>
              <a:spcAft>
                <a:spcPts val="600"/>
              </a:spcAft>
            </a:pPr>
            <a:r>
              <a:rPr sz="1400" b="0">
                <a:solidFill>
                  <a:srgbClr val="0B0B0B"/>
                </a:solidFill>
                <a:latin typeface="Calibri"/>
              </a:rPr>
              <a:t>•  does mission-scale backscatter move as the ladder predicts?  (the claim says yes, by about a fifth)</a:t>
            </a:r>
          </a:p>
          <a:p>
            <a:pPr>
              <a:spcAft>
                <a:spcPts val="600"/>
              </a:spcAft>
            </a:pPr>
            <a:r>
              <a:rPr sz="1400" b="1">
                <a:solidFill>
                  <a:srgbClr val="0B0B0B"/>
                </a:solidFill>
                <a:latin typeface="Calibri"/>
              </a:rPr>
              <a:t>•  What it will not claim</a:t>
            </a:r>
          </a:p>
          <a:p>
            <a:pPr>
              <a:spcAft>
                <a:spcPts val="600"/>
              </a:spcAft>
            </a:pPr>
            <a:r>
              <a:rPr sz="1400" b="0">
                <a:solidFill>
                  <a:srgbClr val="0B0B0B"/>
                </a:solidFill>
                <a:latin typeface="Calibri"/>
              </a:rPr>
              <a:t>•  the bb_p(700) comparison is reported in PAB's own run report and offered to the collaborator, not claimed here</a:t>
            </a:r>
          </a:p>
          <a:p>
            <a:pPr>
              <a:spcAft>
                <a:spcPts val="600"/>
              </a:spcAft>
            </a:pPr>
            <a:r>
              <a:rPr sz="1400" b="1">
                <a:solidFill>
                  <a:srgbClr val="0B0B0B"/>
                </a:solidFill>
                <a:latin typeface="Calibri"/>
              </a:rPr>
              <a:t>•  Caveat carried everywhere</a:t>
            </a:r>
          </a:p>
          <a:p>
            <a:pPr>
              <a:spcAft>
                <a:spcPts val="600"/>
              </a:spcAft>
            </a:pPr>
            <a:r>
              <a:rPr sz="1400" b="0">
                <a:solidFill>
                  <a:srgbClr val="0B0B0B"/>
                </a:solidFill>
                <a:latin typeface="Calibri"/>
              </a:rPr>
              <a:t>•  population statistics are for the matched set until the backfill runs</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37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PAB claude_prompts/v2/run_full_inelastic.md; build_v2_prompt_3.md Task 6 (2026-09-17)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Timeline to completion</a:t>
            </a:r>
          </a:p>
        </p:txBody>
      </p:sp>
      <p:pic>
        <p:nvPicPr>
          <p:cNvPr id="3" name="Picture 2" descr="fig14_timeline.png"/>
          <p:cNvPicPr>
            <a:picLocks noChangeAspect="1"/>
          </p:cNvPicPr>
          <p:nvPr/>
        </p:nvPicPr>
        <p:blipFill>
          <a:blip r:embed="rId2"/>
          <a:stretch>
            <a:fillRect/>
          </a:stretch>
        </p:blipFill>
        <p:spPr>
          <a:xfrm>
            <a:off x="1096079" y="1188720"/>
            <a:ext cx="9969361" cy="4572000"/>
          </a:xfrm>
          <a:prstGeom prst="rect">
            <a:avLst/>
          </a:prstGeom>
        </p:spPr>
      </p:pic>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Everything shown today existed by the 19 September freeze.  PAB 2.0, LS2 and the synthetic-a_dg test follow before the 30 September dissertation freeze; the last is cut first.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38 / 40</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claudes-phd-thesis claude_prompts/qual_exam_prompts.md prompts 6–15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Risks, and what retires each</a:t>
            </a:r>
          </a:p>
        </p:txBody>
      </p:sp>
      <p:graphicFrame>
        <p:nvGraphicFramePr>
          <p:cNvPr id="3" name="Table 2"/>
          <p:cNvGraphicFramePr>
            <a:graphicFrameLocks noGrp="1"/>
          </p:cNvGraphicFramePr>
          <p:nvPr/>
        </p:nvGraphicFramePr>
        <p:xfrm>
          <a:off x="457200" y="1371600"/>
          <a:ext cx="11274552" cy="3291840"/>
        </p:xfrm>
        <a:graphic>
          <a:graphicData uri="http://schemas.openxmlformats.org/drawingml/2006/table">
            <a:tbl>
              <a:tblPr firstRow="1" bandRow="1">
                <a:tableStyleId>{5C22544A-7EE6-4342-B048-85BDC9FD1C3A}</a:tableStyleId>
              </a:tblPr>
              <a:tblGrid>
                <a:gridCol w="3291840"/>
                <a:gridCol w="3840480"/>
                <a:gridCol w="4142232"/>
              </a:tblGrid>
              <a:tr h="365760">
                <a:tc>
                  <a:txBody>
                    <a:bodyPr/>
                    <a:lstStyle/>
                    <a:p>
                      <a:r>
                        <a:rPr sz="1200" b="1">
                          <a:solidFill>
                            <a:srgbClr val="FFFFFF"/>
                          </a:solidFill>
                          <a:latin typeface="Calibri"/>
                        </a:rPr>
                        <a:t>risk</a:t>
                      </a:r>
                    </a:p>
                  </a:txBody>
                  <a:tcPr>
                    <a:solidFill>
                      <a:srgbClr val="14213D"/>
                    </a:solidFill>
                  </a:tcPr>
                </a:tc>
                <a:tc>
                  <a:txBody>
                    <a:bodyPr/>
                    <a:lstStyle/>
                    <a:p>
                      <a:r>
                        <a:rPr sz="1200" b="1">
                          <a:solidFill>
                            <a:srgbClr val="FFFFFF"/>
                          </a:solidFill>
                          <a:latin typeface="Calibri"/>
                        </a:rPr>
                        <a:t>consequence</a:t>
                      </a:r>
                    </a:p>
                  </a:txBody>
                  <a:tcPr>
                    <a:solidFill>
                      <a:srgbClr val="14213D"/>
                    </a:solidFill>
                  </a:tcPr>
                </a:tc>
                <a:tc>
                  <a:txBody>
                    <a:bodyPr/>
                    <a:lstStyle/>
                    <a:p>
                      <a:r>
                        <a:rPr sz="1200" b="1">
                          <a:solidFill>
                            <a:srgbClr val="FFFFFF"/>
                          </a:solidFill>
                          <a:latin typeface="Calibri"/>
                        </a:rPr>
                        <a:t>what retires it</a:t>
                      </a:r>
                    </a:p>
                  </a:txBody>
                  <a:tcPr>
                    <a:solidFill>
                      <a:srgbClr val="14213D"/>
                    </a:solidFill>
                  </a:tcPr>
                </a:tc>
              </a:tr>
              <a:tr h="365760">
                <a:tc>
                  <a:txBody>
                    <a:bodyPr/>
                    <a:lstStyle/>
                    <a:p>
                      <a:r>
                        <a:rPr sz="1200">
                          <a:solidFill>
                            <a:srgbClr val="0B0B0B"/>
                          </a:solidFill>
                          <a:latin typeface="Calibri"/>
                        </a:rPr>
                        <a:t>aliasing hypothesis falsified</a:t>
                      </a:r>
                    </a:p>
                  </a:txBody>
                  <a:tcPr>
                    <a:solidFill>
                      <a:srgbClr val="EEF3F8"/>
                    </a:solidFill>
                  </a:tcPr>
                </a:tc>
                <a:tc>
                  <a:txBody>
                    <a:bodyPr/>
                    <a:lstStyle/>
                    <a:p>
                      <a:r>
                        <a:rPr sz="1200">
                          <a:solidFill>
                            <a:srgbClr val="0B0B0B"/>
                          </a:solidFill>
                          <a:latin typeface="Calibri"/>
                        </a:rPr>
                        <a:t>PAB mechanism section rewritten; claim stands on L23 + GLORIA</a:t>
                      </a:r>
                    </a:p>
                  </a:txBody>
                  <a:tcPr>
                    <a:solidFill>
                      <a:srgbClr val="EEF3F8"/>
                    </a:solidFill>
                  </a:tcPr>
                </a:tc>
                <a:tc>
                  <a:txBody>
                    <a:bodyPr/>
                    <a:lstStyle/>
                    <a:p>
                      <a:r>
                        <a:rPr sz="1200">
                          <a:solidFill>
                            <a:srgbClr val="0B0B0B"/>
                          </a:solidFill>
                          <a:latin typeface="Calibri"/>
                        </a:rPr>
                        <a:t>synthetic-a_dg experiment; a null is reported</a:t>
                      </a:r>
                    </a:p>
                  </a:txBody>
                  <a:tcPr>
                    <a:solidFill>
                      <a:srgbClr val="EEF3F8"/>
                    </a:solidFill>
                  </a:tcPr>
                </a:tc>
              </a:tr>
              <a:tr h="365760">
                <a:tc>
                  <a:txBody>
                    <a:bodyPr/>
                    <a:lstStyle/>
                    <a:p>
                      <a:r>
                        <a:rPr sz="1200">
                          <a:solidFill>
                            <a:srgbClr val="0B0B0B"/>
                          </a:solidFill>
                          <a:latin typeface="Calibri"/>
                        </a:rPr>
                        <a:t>PAB 2.0 full run misses 09-30</a:t>
                      </a:r>
                    </a:p>
                  </a:txBody>
                  <a:tcPr>
                    <a:solidFill>
                      <a:srgbClr val="FFFFFF"/>
                    </a:solidFill>
                  </a:tcPr>
                </a:tc>
                <a:tc>
                  <a:txBody>
                    <a:bodyPr/>
                    <a:lstStyle/>
                    <a:p>
                      <a:r>
                        <a:rPr sz="1200">
                          <a:solidFill>
                            <a:srgbClr val="0B0B0B"/>
                          </a:solidFill>
                          <a:latin typeface="Calibri"/>
                        </a:rPr>
                        <a:t>Ch 5 reports the gate and v1.0</a:t>
                      </a:r>
                    </a:p>
                  </a:txBody>
                  <a:tcPr>
                    <a:solidFill>
                      <a:srgbClr val="FFFFFF"/>
                    </a:solidFill>
                  </a:tcPr>
                </a:tc>
                <a:tc>
                  <a:txBody>
                    <a:bodyPr/>
                    <a:lstStyle/>
                    <a:p>
                      <a:r>
                        <a:rPr sz="1200">
                          <a:solidFill>
                            <a:srgbClr val="0B0B0B"/>
                          </a:solidFill>
                          <a:latin typeface="Calibri"/>
                        </a:rPr>
                        <a:t>backfill + gate the week of 09-22</a:t>
                      </a:r>
                    </a:p>
                  </a:txBody>
                  <a:tcPr>
                    <a:solidFill>
                      <a:srgbClr val="FFFFFF"/>
                    </a:solidFill>
                  </a:tcPr>
                </a:tc>
              </a:tr>
              <a:tr h="365760">
                <a:tc>
                  <a:txBody>
                    <a:bodyPr/>
                    <a:lstStyle/>
                    <a:p>
                      <a:r>
                        <a:rPr sz="1200">
                          <a:solidFill>
                            <a:srgbClr val="0B0B0B"/>
                          </a:solidFill>
                          <a:latin typeface="Calibri"/>
                        </a:rPr>
                        <a:t>Argo reference ambiguous (~4.5×)</a:t>
                      </a:r>
                    </a:p>
                  </a:txBody>
                  <a:tcPr>
                    <a:solidFill>
                      <a:srgbClr val="EEF3F8"/>
                    </a:solidFill>
                  </a:tcPr>
                </a:tc>
                <a:tc>
                  <a:txBody>
                    <a:bodyPr/>
                    <a:lstStyle/>
                    <a:p>
                      <a:r>
                        <a:rPr sz="1200">
                          <a:solidFill>
                            <a:srgbClr val="0B0B0B"/>
                          </a:solidFill>
                          <a:latin typeface="Calibri"/>
                        </a:rPr>
                        <a:t>headline +0.13 or +0.58</a:t>
                      </a:r>
                    </a:p>
                  </a:txBody>
                  <a:tcPr>
                    <a:solidFill>
                      <a:srgbClr val="EEF3F8"/>
                    </a:solidFill>
                  </a:tcPr>
                </a:tc>
                <a:tc>
                  <a:txBody>
                    <a:bodyPr/>
                    <a:lstStyle/>
                    <a:p>
                      <a:r>
                        <a:rPr sz="1200">
                          <a:solidFill>
                            <a:srgbClr val="0B0B0B"/>
                          </a:solidFill>
                          <a:latin typeface="Calibri"/>
                        </a:rPr>
                        <a:t>ruling: adjusted headline, raw sensitivity</a:t>
                      </a:r>
                    </a:p>
                  </a:txBody>
                  <a:tcPr>
                    <a:solidFill>
                      <a:srgbClr val="EEF3F8"/>
                    </a:solidFill>
                  </a:tcPr>
                </a:tc>
              </a:tr>
              <a:tr h="365760">
                <a:tc>
                  <a:txBody>
                    <a:bodyPr/>
                    <a:lstStyle/>
                    <a:p>
                      <a:r>
                        <a:rPr sz="1200">
                          <a:solidFill>
                            <a:srgbClr val="0B0B0B"/>
                          </a:solidFill>
                          <a:latin typeface="Calibri"/>
                        </a:rPr>
                        <a:t>forward model off its zenith grid</a:t>
                      </a:r>
                    </a:p>
                  </a:txBody>
                  <a:tcPr>
                    <a:solidFill>
                      <a:srgbClr val="FFFFFF"/>
                    </a:solidFill>
                  </a:tcPr>
                </a:tc>
                <a:tc>
                  <a:txBody>
                    <a:bodyPr/>
                    <a:lstStyle/>
                    <a:p>
                      <a:r>
                        <a:rPr sz="1200">
                          <a:solidFill>
                            <a:srgbClr val="0B0B0B"/>
                          </a:solidFill>
                          <a:latin typeface="Calibri"/>
                        </a:rPr>
                        <a:t>bounds hold inside 0–60° only</a:t>
                      </a:r>
                    </a:p>
                  </a:txBody>
                  <a:tcPr>
                    <a:solidFill>
                      <a:srgbClr val="FFFFFF"/>
                    </a:solidFill>
                  </a:tcPr>
                </a:tc>
                <a:tc>
                  <a:txBody>
                    <a:bodyPr/>
                    <a:lstStyle/>
                    <a:p>
                      <a:r>
                        <a:rPr sz="1200">
                          <a:solidFill>
                            <a:srgbClr val="0B0B0B"/>
                          </a:solidFill>
                          <a:latin typeface="Calibri"/>
                        </a:rPr>
                        <a:t>stated; denser HydroLight zeniths are future work</a:t>
                      </a:r>
                    </a:p>
                  </a:txBody>
                  <a:tcPr>
                    <a:solidFill>
                      <a:srgbClr val="FFFFFF"/>
                    </a:solidFill>
                  </a:tcPr>
                </a:tc>
              </a:tr>
              <a:tr h="365760">
                <a:tc>
                  <a:txBody>
                    <a:bodyPr/>
                    <a:lstStyle/>
                    <a:p>
                      <a:r>
                        <a:rPr sz="1200">
                          <a:solidFill>
                            <a:srgbClr val="0B0B0B"/>
                          </a:solidFill>
                          <a:latin typeface="Calibri"/>
                        </a:rPr>
                        <a:t>CDOM fluorescence unvalidated</a:t>
                      </a:r>
                    </a:p>
                  </a:txBody>
                  <a:tcPr>
                    <a:solidFill>
                      <a:srgbClr val="EEF3F8"/>
                    </a:solidFill>
                  </a:tcPr>
                </a:tc>
                <a:tc>
                  <a:txBody>
                    <a:bodyPr/>
                    <a:lstStyle/>
                    <a:p>
                      <a:r>
                        <a:rPr sz="1200">
                          <a:solidFill>
                            <a:srgbClr val="0B0B0B"/>
                          </a:solidFill>
                          <a:latin typeface="Calibri"/>
                        </a:rPr>
                        <a:t>rung 5 is a plausibility test</a:t>
                      </a:r>
                    </a:p>
                  </a:txBody>
                  <a:tcPr>
                    <a:solidFill>
                      <a:srgbClr val="EEF3F8"/>
                    </a:solidFill>
                  </a:tcPr>
                </a:tc>
                <a:tc>
                  <a:txBody>
                    <a:bodyPr/>
                    <a:lstStyle/>
                    <a:p>
                      <a:r>
                        <a:rPr sz="1200">
                          <a:solidFill>
                            <a:srgbClr val="0B0B0B"/>
                          </a:solidFill>
                          <a:latin typeface="Calibri"/>
                        </a:rPr>
                        <a:t>flagged; rung 4 is the like-for-like</a:t>
                      </a:r>
                    </a:p>
                  </a:txBody>
                  <a:tcPr>
                    <a:solidFill>
                      <a:srgbClr val="EEF3F8"/>
                    </a:solidFill>
                  </a:tcPr>
                </a:tc>
              </a:tr>
              <a:tr h="365760">
                <a:tc>
                  <a:txBody>
                    <a:bodyPr/>
                    <a:lstStyle/>
                    <a:p>
                      <a:r>
                        <a:rPr sz="1200">
                          <a:solidFill>
                            <a:srgbClr val="0B0B0B"/>
                          </a:solidFill>
                          <a:latin typeface="Calibri"/>
                        </a:rPr>
                        <a:t>EPFT-UP retrain blocked (PML)</a:t>
                      </a:r>
                    </a:p>
                  </a:txBody>
                  <a:tcPr>
                    <a:solidFill>
                      <a:srgbClr val="FFFFFF"/>
                    </a:solidFill>
                  </a:tcPr>
                </a:tc>
                <a:tc>
                  <a:txBody>
                    <a:bodyPr/>
                    <a:lstStyle/>
                    <a:p>
                      <a:r>
                        <a:rPr sz="1200">
                          <a:solidFill>
                            <a:srgbClr val="0B0B0B"/>
                          </a:solidFill>
                          <a:latin typeface="Calibri"/>
                        </a:rPr>
                        <a:t>Ch 4 cannot reproduce training</a:t>
                      </a:r>
                    </a:p>
                  </a:txBody>
                  <a:tcPr>
                    <a:solidFill>
                      <a:srgbClr val="FFFFFF"/>
                    </a:solidFill>
                  </a:tcPr>
                </a:tc>
                <a:tc>
                  <a:txBody>
                    <a:bodyPr/>
                    <a:lstStyle/>
                    <a:p>
                      <a:r>
                        <a:rPr sz="1200">
                          <a:solidFill>
                            <a:srgbClr val="0B0B0B"/>
                          </a:solidFill>
                          <a:latin typeface="Calibri"/>
                        </a:rPr>
                        <a:t>chapter stands on audit + transfer</a:t>
                      </a:r>
                    </a:p>
                  </a:txBody>
                  <a:tcPr>
                    <a:solidFill>
                      <a:srgbClr val="FFFFFF"/>
                    </a:solidFill>
                  </a:tcPr>
                </a:tc>
              </a:tr>
              <a:tr h="365760">
                <a:tc>
                  <a:txBody>
                    <a:bodyPr/>
                    <a:lstStyle/>
                    <a:p>
                      <a:r>
                        <a:rPr sz="1200">
                          <a:solidFill>
                            <a:srgbClr val="0B0B0B"/>
                          </a:solidFill>
                          <a:latin typeface="Calibri"/>
                        </a:rPr>
                        <a:t>1,690 PAB profiles never attempted</a:t>
                      </a:r>
                    </a:p>
                  </a:txBody>
                  <a:tcPr>
                    <a:solidFill>
                      <a:srgbClr val="EEF3F8"/>
                    </a:solidFill>
                  </a:tcPr>
                </a:tc>
                <a:tc>
                  <a:txBody>
                    <a:bodyPr/>
                    <a:lstStyle/>
                    <a:p>
                      <a:r>
                        <a:rPr sz="1200">
                          <a:solidFill>
                            <a:srgbClr val="0B0B0B"/>
                          </a:solidFill>
                          <a:latin typeface="Calibri"/>
                        </a:rPr>
                        <a:t>rates are for the matched set</a:t>
                      </a:r>
                    </a:p>
                  </a:txBody>
                  <a:tcPr>
                    <a:solidFill>
                      <a:srgbClr val="EEF3F8"/>
                    </a:solidFill>
                  </a:tcPr>
                </a:tc>
                <a:tc>
                  <a:txBody>
                    <a:bodyPr/>
                    <a:lstStyle/>
                    <a:p>
                      <a:r>
                        <a:rPr sz="1200">
                          <a:solidFill>
                            <a:srgbClr val="0B0B0B"/>
                          </a:solidFill>
                          <a:latin typeface="Calibri"/>
                        </a:rPr>
                        <a:t>the 2.0 backfill; footnoted until then</a:t>
                      </a:r>
                    </a:p>
                  </a:txBody>
                  <a:tcPr>
                    <a:solidFill>
                      <a:srgbClr val="EEF3F8"/>
                    </a:solidFill>
                  </a:tcPr>
                </a:tc>
              </a:tr>
              <a:tr h="365760">
                <a:tc>
                  <a:txBody>
                    <a:bodyPr/>
                    <a:lstStyle/>
                    <a:p>
                      <a:r>
                        <a:rPr sz="1200">
                          <a:solidFill>
                            <a:srgbClr val="0B0B0B"/>
                          </a:solidFill>
                          <a:latin typeface="Calibri"/>
                        </a:rPr>
                        <a:t>citations on branches (47 of 62)</a:t>
                      </a:r>
                    </a:p>
                  </a:txBody>
                  <a:tcPr>
                    <a:solidFill>
                      <a:srgbClr val="FFFFFF"/>
                    </a:solidFill>
                  </a:tcPr>
                </a:tc>
                <a:tc>
                  <a:txBody>
                    <a:bodyPr/>
                    <a:lstStyle/>
                    <a:p>
                      <a:r>
                        <a:rPr sz="1200">
                          <a:solidFill>
                            <a:srgbClr val="0B0B0B"/>
                          </a:solidFill>
                          <a:latin typeface="Calibri"/>
                        </a:rPr>
                        <a:t>main does not yet resolve them</a:t>
                      </a:r>
                    </a:p>
                  </a:txBody>
                  <a:tcPr>
                    <a:solidFill>
                      <a:srgbClr val="FFFFFF"/>
                    </a:solidFill>
                  </a:tcPr>
                </a:tc>
                <a:tc>
                  <a:txBody>
                    <a:bodyPr/>
                    <a:lstStyle/>
                    <a:p>
                      <a:r>
                        <a:rPr sz="1200">
                          <a:solidFill>
                            <a:srgbClr val="0B0B0B"/>
                          </a:solidFill>
                          <a:latin typeface="Calibri"/>
                        </a:rPr>
                        <a:t>advisor merges after submission; manifest records branch + commit</a:t>
                      </a:r>
                    </a:p>
                  </a:txBody>
                  <a:tcPr>
                    <a:solidFill>
                      <a:srgbClr val="FFFFFF"/>
                    </a:solidFill>
                  </a:tcPr>
                </a:tc>
              </a:tr>
            </a:tbl>
          </a:graphicData>
        </a:graphic>
      </p:graphicFrame>
      <p:sp>
        <p:nvSpPr>
          <p:cNvPr id="4" name="TextBox 3"/>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39 / 40</a:t>
            </a:r>
          </a:p>
        </p:txBody>
      </p:sp>
      <p:sp>
        <p:nvSpPr>
          <p:cNvPr id="5" name="TextBox 4"/>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claudes-phd-thesis reports/citation_manifest.md; qual_report.tex §8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822960"/>
            <a:ext cx="10698480" cy="1463040"/>
          </a:xfrm>
          <a:prstGeom prst="rect">
            <a:avLst/>
          </a:prstGeom>
          <a:noFill/>
        </p:spPr>
        <p:txBody>
          <a:bodyPr wrap="square" anchor="t" lIns="45720" rIns="45720">
            <a:spAutoFit/>
          </a:bodyPr>
          <a:lstStyle/>
          <a:p>
            <a:pPr algn="l"/>
            <a:r>
              <a:rPr sz="3400" b="1" i="0">
                <a:solidFill>
                  <a:srgbClr val="FFFFFF"/>
                </a:solidFill>
                <a:latin typeface="Cambria"/>
              </a:rPr>
              <a:t>Conclusions</a:t>
            </a:r>
          </a:p>
        </p:txBody>
      </p:sp>
      <p:sp>
        <p:nvSpPr>
          <p:cNvPr id="3" name="TextBox 2"/>
          <p:cNvSpPr txBox="1"/>
          <p:nvPr/>
        </p:nvSpPr>
        <p:spPr>
          <a:xfrm>
            <a:off x="731520" y="2286000"/>
            <a:ext cx="10698480" cy="731520"/>
          </a:xfrm>
          <a:prstGeom prst="rect">
            <a:avLst/>
          </a:prstGeom>
          <a:noFill/>
        </p:spPr>
        <p:txBody>
          <a:bodyPr wrap="square" anchor="t" lIns="45720" rIns="45720">
            <a:spAutoFit/>
          </a:bodyPr>
          <a:lstStyle/>
          <a:p>
            <a:pPr algn="l"/>
            <a:r>
              <a:rPr sz="1800" b="0" i="0">
                <a:solidFill>
                  <a:srgbClr val="CADCFC"/>
                </a:solidFill>
                <a:latin typeface="Calibri"/>
              </a:rPr>
              <a:t>The claim, restated</a:t>
            </a:r>
          </a:p>
        </p:txBody>
      </p:sp>
      <p:sp>
        <p:nvSpPr>
          <p:cNvPr id="4" name="TextBox 3"/>
          <p:cNvSpPr txBox="1"/>
          <p:nvPr/>
        </p:nvSpPr>
        <p:spPr>
          <a:xfrm>
            <a:off x="731520" y="3108960"/>
            <a:ext cx="10698480" cy="3108960"/>
          </a:xfrm>
          <a:prstGeom prst="rect">
            <a:avLst/>
          </a:prstGeom>
          <a:noFill/>
        </p:spPr>
        <p:txBody>
          <a:bodyPr wrap="square" anchor="t" lIns="45720" rIns="45720">
            <a:spAutoFit/>
          </a:bodyPr>
          <a:lstStyle/>
          <a:p>
            <a:pPr algn="l"/>
            <a:r>
              <a:rPr sz="1800" b="0" i="0">
                <a:solidFill>
                  <a:srgbClr val="FFFFFF"/>
                </a:solidFill>
                <a:latin typeface="Calibri"/>
              </a:rPr>
              <a:t>Semi-analytical retrieval of ocean inherent optical properties fails in two separable ways. Forward-model (physics) error is identifiable and removable with a sufficiently accurate differentiable radiative-transfer model; once it is removed, the residual error is parameterization error, concentrated in the split of absorption between phytoplankton and CDOM + detritus.</a:t>
            </a:r>
          </a:p>
          <a:p>
            <a:pPr algn="l"/>
            <a:r>
              <a:rPr sz="1800" b="0" i="0">
                <a:solidFill>
                  <a:srgbClr val="FFFFFF"/>
                </a:solidFill>
                <a:latin typeface="Calibri"/>
              </a:rPr>
              <a:t/>
            </a:r>
          </a:p>
          <a:p>
            <a:pPr algn="l"/>
            <a:r>
              <a:rPr sz="1800" b="0" i="0">
                <a:solidFill>
                  <a:srgbClr val="FFFFFF"/>
                </a:solidFill>
                <a:latin typeface="Calibri"/>
              </a:rPr>
              <a:t>Established today: forward-model error → 0.3 %; with the parameterization fixed, physics removes the backscatter error and leaves the absorption split; with the physics fixed, parameterizations move the split by factors and totals hardly at all; the same degeneracy one level up and at mission scale.</a:t>
            </a:r>
          </a:p>
          <a:p>
            <a:pPr algn="l"/>
            <a:r>
              <a:rPr sz="1800" b="0" i="0">
                <a:solidFill>
                  <a:srgbClr val="FFFFFF"/>
                </a:solidFill>
                <a:latin typeface="Calibri"/>
              </a:rPr>
              <a:t>Falsifiable, and two tests remain: LS2 should match BING on totals and be unable to touch the split; PAB 2.0 should move backscatter and leave the chlorophyll sign change.</a:t>
            </a:r>
          </a:p>
          <a:p>
            <a:pPr algn="l"/>
            <a:r>
              <a:rPr sz="1800" b="0" i="0">
                <a:solidFill>
                  <a:srgbClr val="FFFFFF"/>
                </a:solidFill>
                <a:latin typeface="Calibri"/>
              </a:rPr>
              <a:t>On the candidate: the arrangement produced a complete provenance trail, and its characteristic failure — treating the repository as the world — which the record shows and the advisor corrected.</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C3C2B7"/>
                </a:solidFill>
                <a:latin typeface="Calibri"/>
              </a:rPr>
              <a:t>40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822960"/>
            <a:ext cx="10698480" cy="1463040"/>
          </a:xfrm>
          <a:prstGeom prst="rect">
            <a:avLst/>
          </a:prstGeom>
          <a:noFill/>
        </p:spPr>
        <p:txBody>
          <a:bodyPr wrap="square" anchor="t" lIns="45720" rIns="45720">
            <a:spAutoFit/>
          </a:bodyPr>
          <a:lstStyle/>
          <a:p>
            <a:pPr algn="l"/>
            <a:r>
              <a:rPr sz="3400" b="1" i="0">
                <a:solidFill>
                  <a:srgbClr val="FFFFFF"/>
                </a:solidFill>
                <a:latin typeface="Cambria"/>
              </a:rPr>
              <a:t>Backup</a:t>
            </a:r>
          </a:p>
        </p:txBody>
      </p:sp>
      <p:sp>
        <p:nvSpPr>
          <p:cNvPr id="3" name="TextBox 2"/>
          <p:cNvSpPr txBox="1"/>
          <p:nvPr/>
        </p:nvSpPr>
        <p:spPr>
          <a:xfrm>
            <a:off x="731520" y="2286000"/>
            <a:ext cx="10698480" cy="731520"/>
          </a:xfrm>
          <a:prstGeom prst="rect">
            <a:avLst/>
          </a:prstGeom>
          <a:noFill/>
        </p:spPr>
        <p:txBody>
          <a:bodyPr wrap="square" anchor="t" lIns="45720" rIns="45720">
            <a:spAutoFit/>
          </a:bodyPr>
          <a:lstStyle/>
          <a:p>
            <a:pPr algn="l"/>
            <a:r>
              <a:rPr sz="1800" b="0" i="0">
                <a:solidFill>
                  <a:srgbClr val="CADCFC"/>
                </a:solidFill>
                <a:latin typeface="Calibri"/>
              </a:rPr>
              <a:t>After the end</a:t>
            </a:r>
          </a:p>
        </p:txBody>
      </p:sp>
      <p:sp>
        <p:nvSpPr>
          <p:cNvPr id="4" name="TextBox 3"/>
          <p:cNvSpPr txBox="1"/>
          <p:nvPr/>
        </p:nvSpPr>
        <p:spPr>
          <a:xfrm>
            <a:off x="731520" y="3108960"/>
            <a:ext cx="10698480" cy="3108960"/>
          </a:xfrm>
          <a:prstGeom prst="rect">
            <a:avLst/>
          </a:prstGeom>
          <a:noFill/>
        </p:spPr>
        <p:txBody>
          <a:bodyPr wrap="square" anchor="t" lIns="45720" rIns="45720">
            <a:spAutoFit/>
          </a:bodyPr>
          <a:lstStyle/>
          <a:p>
            <a:pPr algn="l"/>
            <a:r>
              <a:rPr sz="1800" b="0" i="0">
                <a:solidFill>
                  <a:srgbClr val="FFFFFF"/>
                </a:solidFill>
                <a:latin typeface="Calibri"/>
              </a:rPr>
              <a:t>Ordered by the questions this evidence most invites:</a:t>
            </a:r>
          </a:p>
          <a:p>
            <a:pPr algn="l"/>
            <a:r>
              <a:rPr sz="1800" b="0" i="0">
                <a:solidFill>
                  <a:srgbClr val="FFFFFF"/>
                </a:solidFill>
                <a:latin typeface="Calibri"/>
              </a:rPr>
              <a:t>1. How do you know the forward model is right?</a:t>
            </a:r>
          </a:p>
          <a:p>
            <a:pPr algn="l"/>
            <a:r>
              <a:rPr sz="1800" b="0" i="0">
                <a:solidFill>
                  <a:srgbClr val="FFFFFF"/>
                </a:solidFill>
                <a:latin typeface="Calibri"/>
              </a:rPr>
              <a:t>2. Why is a_ph wrong by a factor of two, and should anyone care?</a:t>
            </a:r>
          </a:p>
          <a:p>
            <a:pPr algn="l"/>
            <a:r>
              <a:rPr sz="1800" b="0" i="0">
                <a:solidFill>
                  <a:srgbClr val="FFFFFF"/>
                </a:solidFill>
                <a:latin typeface="Calibri"/>
              </a:rPr>
              <a:t>3. What would falsify the claim?</a:t>
            </a:r>
          </a:p>
          <a:p>
            <a:pPr algn="l"/>
            <a:r>
              <a:rPr sz="1800" b="0" i="0">
                <a:solidFill>
                  <a:srgbClr val="FFFFFF"/>
                </a:solidFill>
                <a:latin typeface="Calibri"/>
              </a:rPr>
              <a:t>4. What did the candidate do, and what did the advisor do?</a:t>
            </a:r>
          </a:p>
          <a:p>
            <a:pPr algn="l"/>
            <a:r>
              <a:rPr sz="1800" b="0" i="0">
                <a:solidFill>
                  <a:srgbClr val="FFFFFF"/>
                </a:solidFill>
                <a:latin typeface="Calibri"/>
              </a:rPr>
              <a:t>5. The ladder numbers, in full.   6. Where every citation lives.</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C3C2B7"/>
                </a:solidFill>
                <a:latin typeface="Calibri"/>
              </a:rPr>
              <a:t>backup 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B1 — How do you know the forward model is right?</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Against what</a:t>
            </a:r>
          </a:p>
          <a:p>
            <a:pPr>
              <a:spcAft>
                <a:spcPts val="600"/>
              </a:spcAft>
            </a:pPr>
            <a:r>
              <a:rPr sz="1400" b="0">
                <a:solidFill>
                  <a:srgbClr val="0B0B0B"/>
                </a:solidFill>
                <a:latin typeface="Calibri"/>
              </a:rPr>
              <a:t>•  HydroLight, the numerical radiative-transfer solution that generated L23; 9,960 samples (3,320 bodies × 3 zeniths)</a:t>
            </a:r>
          </a:p>
          <a:p>
            <a:pPr>
              <a:spcAft>
                <a:spcPts val="600"/>
              </a:spcAft>
            </a:pPr>
            <a:r>
              <a:rPr sz="1400" b="1">
                <a:solidFill>
                  <a:srgbClr val="0B0B0B"/>
                </a:solidFill>
                <a:latin typeface="Calibri"/>
              </a:rPr>
              <a:t>•  Held out how</a:t>
            </a:r>
          </a:p>
          <a:p>
            <a:pPr>
              <a:spcAft>
                <a:spcPts val="600"/>
              </a:spcAft>
            </a:pPr>
            <a:r>
              <a:rPr sz="1400" b="0">
                <a:solidFill>
                  <a:srgbClr val="0B0B0B"/>
                </a:solidFill>
                <a:latin typeface="Calibri"/>
              </a:rPr>
              <a:t>•  20 % of bodies by scene: 0.30 % rRMS; the 60° zenith when trained on 0/30: 4.7–12.2 % (5 seeds) — reported, not gated</a:t>
            </a:r>
          </a:p>
          <a:p>
            <a:pPr>
              <a:spcAft>
                <a:spcPts val="600"/>
              </a:spcAft>
            </a:pPr>
            <a:r>
              <a:rPr sz="1400" b="1">
                <a:solidFill>
                  <a:srgbClr val="0B0B0B"/>
                </a:solidFill>
                <a:latin typeface="Calibri"/>
              </a:rPr>
              <a:t>•  Cross-checked</a:t>
            </a:r>
          </a:p>
          <a:p>
            <a:pPr>
              <a:spcAft>
                <a:spcPts val="600"/>
              </a:spcAft>
            </a:pPr>
            <a:r>
              <a:rPr sz="1400" b="0">
                <a:solidFill>
                  <a:srgbClr val="0B0B0B"/>
                </a:solidFill>
                <a:latin typeface="Calibri"/>
              </a:rPr>
              <a:t>•  inelastic terms match BING's reference implementation to 10⁻¹³–10⁻¹⁶; gradients to 5×10⁻⁹</a:t>
            </a:r>
          </a:p>
          <a:p>
            <a:pPr>
              <a:spcAft>
                <a:spcPts val="600"/>
              </a:spcAft>
            </a:pPr>
            <a:r>
              <a:rPr sz="1400" b="1">
                <a:solidFill>
                  <a:srgbClr val="0B0B0B"/>
                </a:solidFill>
                <a:latin typeface="Calibri"/>
              </a:rPr>
              <a:t>•  Not shown right</a:t>
            </a:r>
          </a:p>
          <a:p>
            <a:pPr>
              <a:spcAft>
                <a:spcPts val="600"/>
              </a:spcAft>
            </a:pPr>
            <a:r>
              <a:rPr sz="1400" b="0">
                <a:solidFill>
                  <a:srgbClr val="0B0B0B"/>
                </a:solidFill>
                <a:latin typeface="Calibri"/>
              </a:rPr>
              <a:t>•  phase function (1.7× span in B_p), off-nadir view, CDOM fluorescence, λ &lt; 400 nm (13 % at 350)</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Where the ladder stands relative to those edges</a:t>
            </a:r>
          </a:p>
          <a:p>
            <a:pPr>
              <a:spcAft>
                <a:spcPts val="600"/>
              </a:spcAft>
            </a:pPr>
            <a:r>
              <a:rPr sz="1400" b="0">
                <a:solidFill>
                  <a:srgbClr val="0B0B0B"/>
                </a:solidFill>
                <a:latin typeface="Calibri"/>
              </a:rPr>
              <a:t>•  L23 arm at 0° zenith, inside the grid; PANGAEA/PACE zeniths computed per record, inside 0–60°</a:t>
            </a:r>
          </a:p>
          <a:p>
            <a:pPr>
              <a:spcAft>
                <a:spcPts val="600"/>
              </a:spcAft>
            </a:pPr>
            <a:r>
              <a:rPr sz="1400" b="0">
                <a:solidFill>
                  <a:srgbClr val="0B0B0B"/>
                </a:solidFill>
                <a:latin typeface="Calibri"/>
              </a:rPr>
              <a:t>•  B_p free on L23 and PACE — posteriors near 0.027, above the trained span [0.010, 0.018]: DomainWarning on every hybrid fit, accepted with the caveat; the analytic ZTT rung is the control</a:t>
            </a:r>
          </a:p>
          <a:p>
            <a:pPr>
              <a:spcAft>
                <a:spcPts val="600"/>
              </a:spcAft>
            </a:pPr>
            <a:r>
              <a:rPr sz="1400" b="1">
                <a:solidFill>
                  <a:srgbClr val="0B0B0B"/>
                </a:solidFill>
                <a:latin typeface="Calibri"/>
              </a:rPr>
              <a:t>•  The honest answer</a:t>
            </a:r>
          </a:p>
          <a:p>
            <a:pPr>
              <a:spcAft>
                <a:spcPts val="600"/>
              </a:spcAft>
            </a:pPr>
            <a:r>
              <a:rPr sz="1400" b="0">
                <a:solidFill>
                  <a:srgbClr val="0B0B0B"/>
                </a:solidFill>
                <a:latin typeface="Calibri"/>
              </a:rPr>
              <a:t>•  right to 0.3 % inside the trained domain, degrading to ~10 % on unseen sun angle; every result in the talk is inside the domain</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backup 2</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retrieve-or-bust reports: report_rt_elastic_model.md v1.0 (2026-08-15), report_rt_inelastic_model.md v1.0 (2026-08-27); IOPtics RT-ladder pages (rt_tests_A_l23_v1, rt_tests_A_pangaea_v1, rt_tests_B_v1), built 2026-09-18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B2 — Why is a_ph wrong by a factor of two, and should anyone care?</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Why</a:t>
            </a:r>
          </a:p>
          <a:p>
            <a:pPr>
              <a:spcAft>
                <a:spcPts val="600"/>
              </a:spcAft>
            </a:pPr>
            <a:r>
              <a:rPr sz="1400" b="0">
                <a:solidFill>
                  <a:srgbClr val="0B0B0B"/>
                </a:solidFill>
                <a:latin typeface="Calibri"/>
              </a:rPr>
              <a:t>•  a_ph and a_dg both absorb most in the blue; their sum is set by the reflectance level, their split by shape alone</a:t>
            </a:r>
          </a:p>
          <a:p>
            <a:pPr>
              <a:spcAft>
                <a:spcPts val="600"/>
              </a:spcAft>
            </a:pPr>
            <a:r>
              <a:rPr sz="1400" b="0">
                <a:solidFill>
                  <a:srgbClr val="0B0B0B"/>
                </a:solidFill>
                <a:latin typeface="Calibri"/>
              </a:rPr>
              <a:t>•  BING's a_ph is a fixed Bricaud shape scaled by one amplitude; a_dg an exponential with one amplitude and one slope</a:t>
            </a:r>
          </a:p>
          <a:p>
            <a:pPr>
              <a:spcAft>
                <a:spcPts val="600"/>
              </a:spcAft>
            </a:pPr>
            <a:r>
              <a:rPr sz="1400" b="0">
                <a:solidFill>
                  <a:srgbClr val="0B0B0B"/>
                </a:solidFill>
                <a:latin typeface="Calibri"/>
              </a:rPr>
              <a:t>•  the physics changes what light is available in the red; the parameterization decides where it goes — and it goes into a_ph</a:t>
            </a:r>
          </a:p>
          <a:p>
            <a:pPr>
              <a:spcAft>
                <a:spcPts val="600"/>
              </a:spcAft>
            </a:pPr>
            <a:r>
              <a:rPr sz="1400" b="0">
                <a:solidFill>
                  <a:srgbClr val="0B0B0B"/>
                </a:solidFill>
                <a:latin typeface="Calibri"/>
              </a:rPr>
              <a:t>•  GIOP and GSM under the same physics: 60 % and 28 % — different parameterizations, same disease (slide 23)</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Should anyone care</a:t>
            </a:r>
          </a:p>
          <a:p>
            <a:pPr>
              <a:spcAft>
                <a:spcPts val="600"/>
              </a:spcAft>
            </a:pPr>
            <a:r>
              <a:rPr sz="1400" b="0">
                <a:solidFill>
                  <a:srgbClr val="0B0B0B"/>
                </a:solidFill>
                <a:latin typeface="Calibri"/>
              </a:rPr>
              <a:t>•  a_ph is the chlorophyll proxy; PACE's phytoplankton community products are built on the decomposition</a:t>
            </a:r>
          </a:p>
          <a:p>
            <a:pPr>
              <a:spcAft>
                <a:spcPts val="600"/>
              </a:spcAft>
            </a:pPr>
            <a:r>
              <a:rPr sz="1400" b="0">
                <a:solidFill>
                  <a:srgbClr val="0B0B0B"/>
                </a:solidFill>
                <a:latin typeface="Calibri"/>
              </a:rPr>
              <a:t>•  at mission scale it appears as a chlorophyll bias that changes sign with concentration and tracks a_dg (slide 33)</a:t>
            </a:r>
          </a:p>
          <a:p>
            <a:pPr>
              <a:spcAft>
                <a:spcPts val="600"/>
              </a:spcAft>
            </a:pPr>
            <a:r>
              <a:rPr sz="1400" b="0">
                <a:solidFill>
                  <a:srgbClr val="0B0B0B"/>
                </a:solidFill>
                <a:latin typeface="Calibri"/>
              </a:rPr>
              <a:t>•  one level up it appears as a species algorithm that transfers for one group and not two (slide 29)</a:t>
            </a:r>
          </a:p>
          <a:p>
            <a:pPr>
              <a:spcAft>
                <a:spcPts val="600"/>
              </a:spcAft>
            </a:pPr>
            <a:r>
              <a:rPr sz="1400" b="1">
                <a:solidFill>
                  <a:srgbClr val="0B0B0B"/>
                </a:solidFill>
                <a:latin typeface="Calibri"/>
              </a:rPr>
              <a:t>•  What would fix it</a:t>
            </a:r>
          </a:p>
          <a:p>
            <a:pPr>
              <a:spcAft>
                <a:spcPts val="600"/>
              </a:spcAft>
            </a:pPr>
            <a:r>
              <a:rPr sz="1400" b="0">
                <a:solidFill>
                  <a:srgbClr val="0B0B0B"/>
                </a:solidFill>
                <a:latin typeface="Calibri"/>
              </a:rPr>
              <a:t>•  not physics.  Either more information (Kd, as LS2 uses) or a parameterization that admits it cannot split — which is the dissertation's LS2 test</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backup 3</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 PAB reports/PAB/pab_chl_matchups_report.md (2026-09-07); pab_version 1.0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B3 — What would falsify the claim?</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If completing the physics had fixed a_ph / a_dg</a:t>
            </a:r>
          </a:p>
          <a:p>
            <a:pPr>
              <a:spcAft>
                <a:spcPts val="600"/>
              </a:spcAft>
            </a:pPr>
            <a:r>
              <a:rPr sz="1400" b="0">
                <a:solidFill>
                  <a:srgbClr val="0B0B0B"/>
                </a:solidFill>
                <a:latin typeface="Calibri"/>
              </a:rPr>
              <a:t>•  the claim would be wrong; it did not, on 3,309 synthetic bodies (slide 14)</a:t>
            </a:r>
          </a:p>
          <a:p>
            <a:pPr>
              <a:spcAft>
                <a:spcPts val="600"/>
              </a:spcAft>
            </a:pPr>
            <a:r>
              <a:rPr sz="1400" b="1">
                <a:solidFill>
                  <a:srgbClr val="0B0B0B"/>
                </a:solidFill>
                <a:latin typeface="Calibri"/>
              </a:rPr>
              <a:t>•  If the LS2 comparison shows a semi-analytical form that recovers the split from R_rs alone</a:t>
            </a:r>
          </a:p>
          <a:p>
            <a:pPr>
              <a:spcAft>
                <a:spcPts val="600"/>
              </a:spcAft>
            </a:pPr>
            <a:r>
              <a:rPr sz="1400" b="0">
                <a:solidFill>
                  <a:srgbClr val="0B0B0B"/>
                </a:solidFill>
                <a:latin typeface="Calibri"/>
              </a:rPr>
              <a:t>•  the "parameterization" half is wrong; LS2 (Loisel+2018) declines to split and should match BING on totals — the dissertation runs the three-rung ladder (true Kd + true b_p; true Kd + OC4 b_p; NN Kd + OC4 b_p)</a:t>
            </a:r>
          </a:p>
          <a:p>
            <a:pPr>
              <a:spcAft>
                <a:spcPts val="600"/>
              </a:spcAft>
            </a:pPr>
            <a:r>
              <a:rPr sz="1400" b="1">
                <a:solidFill>
                  <a:srgbClr val="0B0B0B"/>
                </a:solidFill>
                <a:latin typeface="Calibri"/>
              </a:rPr>
              <a:t>•  If PAB 2.0 removes the chlorophyll sign change</a:t>
            </a:r>
          </a:p>
          <a:p>
            <a:pPr>
              <a:spcAft>
                <a:spcPts val="600"/>
              </a:spcAft>
            </a:pPr>
            <a:r>
              <a:rPr sz="1400" b="0">
                <a:solidFill>
                  <a:srgbClr val="0B0B0B"/>
                </a:solidFill>
                <a:latin typeface="Calibri"/>
              </a:rPr>
              <a:t>•  the mission-scale mechanism is the physics after all; the claim says the sign change survives and backscatter moves by ~20 %</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If the synthetic-a_dg experiment shows no aliasing</a:t>
            </a:r>
          </a:p>
          <a:p>
            <a:pPr>
              <a:spcAft>
                <a:spcPts val="600"/>
              </a:spcAft>
            </a:pPr>
            <a:r>
              <a:rPr sz="1400" b="0">
                <a:solidFill>
                  <a:srgbClr val="0B0B0B"/>
                </a:solidFill>
                <a:latin typeface="Calibri"/>
              </a:rPr>
              <a:t>•  the PAB mechanism section is rewritten; the L23 ladder and GLORIA stand on their own</a:t>
            </a:r>
          </a:p>
          <a:p>
            <a:pPr>
              <a:spcAft>
                <a:spcPts val="600"/>
              </a:spcAft>
            </a:pPr>
            <a:r>
              <a:rPr sz="1400" b="1">
                <a:solidFill>
                  <a:srgbClr val="0B0B0B"/>
                </a:solidFill>
                <a:latin typeface="Calibri"/>
              </a:rPr>
              <a:t>•  If GLORIA turbid spectra are fitted by a richer b_bp under the new physics</a:t>
            </a:r>
          </a:p>
          <a:p>
            <a:pPr>
              <a:spcAft>
                <a:spcPts val="600"/>
              </a:spcAft>
            </a:pPr>
            <a:r>
              <a:rPr sz="1400" b="0">
                <a:solidFill>
                  <a:srgbClr val="0B0B0B"/>
                </a:solidFill>
                <a:latin typeface="Calibri"/>
              </a:rPr>
              <a:t>•  then the turbid failure was parameterization after all; today four b_bp models give one fit and the forward model is the suspect</a:t>
            </a:r>
          </a:p>
          <a:p>
            <a:pPr>
              <a:spcAft>
                <a:spcPts val="600"/>
              </a:spcAft>
            </a:pPr>
            <a:r>
              <a:rPr sz="1400" b="1">
                <a:solidFill>
                  <a:srgbClr val="0B0B0B"/>
                </a:solidFill>
                <a:latin typeface="Calibri"/>
              </a:rPr>
              <a:t>•  Already retired</a:t>
            </a:r>
          </a:p>
          <a:p>
            <a:pPr>
              <a:spcAft>
                <a:spcPts val="600"/>
              </a:spcAft>
            </a:pPr>
            <a:r>
              <a:rPr sz="1400" b="0">
                <a:solidFill>
                  <a:srgbClr val="0B0B0B"/>
                </a:solidFill>
                <a:latin typeface="Calibri"/>
              </a:rPr>
              <a:t>•  "RT-B may not run" — it ran on 2026-09-17</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backup 4</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qual_report.tex §6 and §8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B4 — What did the candidate do, and what did the advisor do?</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The advisor</a:t>
            </a:r>
          </a:p>
          <a:p>
            <a:pPr>
              <a:spcAft>
                <a:spcPts val="600"/>
              </a:spcAft>
            </a:pPr>
            <a:r>
              <a:rPr sz="1400" b="0">
                <a:solidFill>
                  <a:srgbClr val="0B0B0B"/>
                </a:solidFill>
                <a:latin typeface="Calibri"/>
              </a:rPr>
              <a:t>•  chose the four problems and the exclusions; wrote every numbered prompt and every Q&amp;A answer (55 questions in the RT tests alone)</a:t>
            </a:r>
          </a:p>
          <a:p>
            <a:pPr>
              <a:spcAft>
                <a:spcPts val="600"/>
              </a:spcAft>
            </a:pPr>
            <a:r>
              <a:rPr sz="1400" b="0">
                <a:solidFill>
                  <a:srgbClr val="0B0B0B"/>
                </a:solidFill>
                <a:latin typeface="Calibri"/>
              </a:rPr>
              <a:t>•  judged acceptance at every gate (design docs, coding stages, sweep launches, the 100-matchup PAB gate)</a:t>
            </a:r>
          </a:p>
          <a:p>
            <a:pPr>
              <a:spcAft>
                <a:spcPts val="600"/>
              </a:spcAft>
            </a:pPr>
            <a:r>
              <a:rPr sz="1400" b="0">
                <a:solidFill>
                  <a:srgbClr val="0B0B0B"/>
                </a:solidFill>
                <a:latin typeface="Calibri"/>
              </a:rPr>
              <a:t>•  ran every git command; owns the machines, the data, the cluster and the Drive</a:t>
            </a:r>
          </a:p>
          <a:p>
            <a:pPr>
              <a:spcAft>
                <a:spcPts val="600"/>
              </a:spcAft>
            </a:pPr>
            <a:r>
              <a:rPr sz="1400" b="0">
                <a:solidFill>
                  <a:srgbClr val="0B0B0B"/>
                </a:solidFill>
                <a:latin typeface="Calibri"/>
              </a:rPr>
              <a:t>•  is the author of BING and the 2025 paper the thesis stands on</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The candidate (Claude: Opus 4.6–5, Fable 5–5.1, over eight months)</a:t>
            </a:r>
          </a:p>
          <a:p>
            <a:pPr>
              <a:spcAft>
                <a:spcPts val="600"/>
              </a:spcAft>
            </a:pPr>
            <a:r>
              <a:rPr sz="1400" b="0">
                <a:solidFill>
                  <a:srgbClr val="0B0B0B"/>
                </a:solidFill>
                <a:latin typeface="Calibri"/>
              </a:rPr>
              <a:t>•  wrote the packages: IOPtics (12.6k lines, 535 tests), robust.rt (8.3k, 537 tests), PAB (8.9k, 140–208 tests), EPFT-UP; the BING extensions</a:t>
            </a:r>
          </a:p>
          <a:p>
            <a:pPr>
              <a:spcAft>
                <a:spcPts val="600"/>
              </a:spcAft>
            </a:pPr>
            <a:r>
              <a:rPr sz="1400" b="0">
                <a:solidFill>
                  <a:srgbClr val="0B0B0B"/>
                </a:solidFill>
                <a:latin typeface="Calibri"/>
              </a:rPr>
              <a:t>•  designed and ran the sweeps; wrote the reports, the pages, the figures, this deck and the written report</a:t>
            </a:r>
          </a:p>
          <a:p>
            <a:pPr>
              <a:spcAft>
                <a:spcPts val="600"/>
              </a:spcAft>
            </a:pPr>
            <a:r>
              <a:rPr sz="1400" b="1">
                <a:solidFill>
                  <a:srgbClr val="0B0B0B"/>
                </a:solidFill>
                <a:latin typeface="Calibri"/>
              </a:rPr>
              <a:t>•  The record</a:t>
            </a:r>
          </a:p>
          <a:p>
            <a:pPr>
              <a:spcAft>
                <a:spcPts val="600"/>
              </a:spcAft>
            </a:pPr>
            <a:r>
              <a:rPr sz="1400" b="0">
                <a:solidFill>
                  <a:srgbClr val="0B0B0B"/>
                </a:solidFill>
                <a:latin typeface="Calibri"/>
              </a:rPr>
              <a:t>•  ~530 dated session logs since 2026-06-15; every result traces to one; every citation to a path, branch and commit</a:t>
            </a:r>
          </a:p>
          <a:p>
            <a:pPr>
              <a:spcAft>
                <a:spcPts val="600"/>
              </a:spcAft>
            </a:pPr>
            <a:r>
              <a:rPr sz="1400" b="1">
                <a:solidFill>
                  <a:srgbClr val="0B0B0B"/>
                </a:solidFill>
                <a:latin typeface="Calibri"/>
              </a:rPr>
              <a:t>•  The failure mode the record shows</a:t>
            </a:r>
          </a:p>
          <a:p>
            <a:pPr>
              <a:spcAft>
                <a:spcPts val="600"/>
              </a:spcAft>
            </a:pPr>
            <a:r>
              <a:rPr sz="1400" b="0">
                <a:solidFill>
                  <a:srgbClr val="0B0B0B"/>
                </a:solidFill>
                <a:latin typeface="Calibri"/>
              </a:rPr>
              <a:t>•  inferring absence of work from absence of commits — twice; corrected by the advisor and by re-checking the disk</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backup 5</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claudes-phd-thesis claude_prompts/profx_inventory.md; start_up.md ## Report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B5 — The L23 ladder in full (MCMC, 3,309 bodies, fractional error / bias)</a:t>
            </a:r>
          </a:p>
        </p:txBody>
      </p:sp>
      <p:graphicFrame>
        <p:nvGraphicFramePr>
          <p:cNvPr id="3" name="Table 2"/>
          <p:cNvGraphicFramePr>
            <a:graphicFrameLocks noGrp="1"/>
          </p:cNvGraphicFramePr>
          <p:nvPr/>
        </p:nvGraphicFramePr>
        <p:xfrm>
          <a:off x="457200" y="1371600"/>
          <a:ext cx="11274552" cy="2194560"/>
        </p:xfrm>
        <a:graphic>
          <a:graphicData uri="http://schemas.openxmlformats.org/drawingml/2006/table">
            <a:tbl>
              <a:tblPr firstRow="1" bandRow="1">
                <a:tableStyleId>{5C22544A-7EE6-4342-B048-85BDC9FD1C3A}</a:tableStyleId>
              </a:tblPr>
              <a:tblGrid>
                <a:gridCol w="2651760"/>
                <a:gridCol w="1463040"/>
                <a:gridCol w="1554480"/>
                <a:gridCol w="1463040"/>
                <a:gridCol w="1463040"/>
                <a:gridCol w="1463040"/>
                <a:gridCol w="1216152"/>
              </a:tblGrid>
              <a:tr h="365760">
                <a:tc>
                  <a:txBody>
                    <a:bodyPr/>
                    <a:lstStyle/>
                    <a:p>
                      <a:r>
                        <a:rPr sz="1400" b="1">
                          <a:solidFill>
                            <a:srgbClr val="FFFFFF"/>
                          </a:solidFill>
                          <a:latin typeface="Calibri"/>
                        </a:rPr>
                        <a:t>rung</a:t>
                      </a:r>
                    </a:p>
                  </a:txBody>
                  <a:tcPr>
                    <a:solidFill>
                      <a:srgbClr val="14213D"/>
                    </a:solidFill>
                  </a:tcPr>
                </a:tc>
                <a:tc>
                  <a:txBody>
                    <a:bodyPr/>
                    <a:lstStyle/>
                    <a:p>
                      <a:r>
                        <a:rPr sz="1400" b="1">
                          <a:solidFill>
                            <a:srgbClr val="FFFFFF"/>
                          </a:solidFill>
                          <a:latin typeface="Calibri"/>
                        </a:rPr>
                        <a:t>a(440)</a:t>
                      </a:r>
                    </a:p>
                  </a:txBody>
                  <a:tcPr>
                    <a:solidFill>
                      <a:srgbClr val="14213D"/>
                    </a:solidFill>
                  </a:tcPr>
                </a:tc>
                <a:tc>
                  <a:txBody>
                    <a:bodyPr/>
                    <a:lstStyle/>
                    <a:p>
                      <a:r>
                        <a:rPr sz="1400" b="1">
                          <a:solidFill>
                            <a:srgbClr val="FFFFFF"/>
                          </a:solidFill>
                          <a:latin typeface="Calibri"/>
                        </a:rPr>
                        <a:t>a_ph(440)</a:t>
                      </a:r>
                    </a:p>
                  </a:txBody>
                  <a:tcPr>
                    <a:solidFill>
                      <a:srgbClr val="14213D"/>
                    </a:solidFill>
                  </a:tcPr>
                </a:tc>
                <a:tc>
                  <a:txBody>
                    <a:bodyPr/>
                    <a:lstStyle/>
                    <a:p>
                      <a:r>
                        <a:rPr sz="1400" b="1">
                          <a:solidFill>
                            <a:srgbClr val="FFFFFF"/>
                          </a:solidFill>
                          <a:latin typeface="Calibri"/>
                        </a:rPr>
                        <a:t>a_dg(440)</a:t>
                      </a:r>
                    </a:p>
                  </a:txBody>
                  <a:tcPr>
                    <a:solidFill>
                      <a:srgbClr val="14213D"/>
                    </a:solidFill>
                  </a:tcPr>
                </a:tc>
                <a:tc>
                  <a:txBody>
                    <a:bodyPr/>
                    <a:lstStyle/>
                    <a:p>
                      <a:r>
                        <a:rPr sz="1400" b="1">
                          <a:solidFill>
                            <a:srgbClr val="FFFFFF"/>
                          </a:solidFill>
                          <a:latin typeface="Calibri"/>
                        </a:rPr>
                        <a:t>b_bp(555)</a:t>
                      </a:r>
                    </a:p>
                  </a:txBody>
                  <a:tcPr>
                    <a:solidFill>
                      <a:srgbClr val="14213D"/>
                    </a:solidFill>
                  </a:tcPr>
                </a:tc>
                <a:tc>
                  <a:txBody>
                    <a:bodyPr/>
                    <a:lstStyle/>
                    <a:p>
                      <a:r>
                        <a:rPr sz="1400" b="1">
                          <a:solidFill>
                            <a:srgbClr val="FFFFFF"/>
                          </a:solidFill>
                          <a:latin typeface="Calibri"/>
                        </a:rPr>
                        <a:t>b_bp(670)</a:t>
                      </a:r>
                    </a:p>
                  </a:txBody>
                  <a:tcPr>
                    <a:solidFill>
                      <a:srgbClr val="14213D"/>
                    </a:solidFill>
                  </a:tcPr>
                </a:tc>
                <a:tc>
                  <a:txBody>
                    <a:bodyPr/>
                    <a:lstStyle/>
                    <a:p>
                      <a:r>
                        <a:rPr sz="1400" b="1">
                          <a:solidFill>
                            <a:srgbClr val="FFFFFF"/>
                          </a:solidFill>
                          <a:latin typeface="Calibri"/>
                        </a:rPr>
                        <a:t>χ²ν</a:t>
                      </a:r>
                    </a:p>
                  </a:txBody>
                  <a:tcPr>
                    <a:solidFill>
                      <a:srgbClr val="14213D"/>
                    </a:solidFill>
                  </a:tcPr>
                </a:tc>
              </a:tr>
              <a:tr h="365760">
                <a:tc>
                  <a:txBody>
                    <a:bodyPr/>
                    <a:lstStyle/>
                    <a:p>
                      <a:r>
                        <a:rPr sz="1400">
                          <a:solidFill>
                            <a:srgbClr val="0B0B0B"/>
                          </a:solidFill>
                          <a:latin typeface="Calibri"/>
                        </a:rPr>
                        <a:t>elastic, analytic</a:t>
                      </a:r>
                    </a:p>
                  </a:txBody>
                  <a:tcPr>
                    <a:solidFill>
                      <a:srgbClr val="EEF3F8"/>
                    </a:solidFill>
                  </a:tcPr>
                </a:tc>
                <a:tc>
                  <a:txBody>
                    <a:bodyPr/>
                    <a:lstStyle/>
                    <a:p>
                      <a:r>
                        <a:rPr sz="1400">
                          <a:solidFill>
                            <a:srgbClr val="0B0B0B"/>
                          </a:solidFill>
                          <a:latin typeface="Calibri"/>
                        </a:rPr>
                        <a:t>5.3 / +2.8</a:t>
                      </a:r>
                    </a:p>
                  </a:txBody>
                  <a:tcPr>
                    <a:solidFill>
                      <a:srgbClr val="EEF3F8"/>
                    </a:solidFill>
                  </a:tcPr>
                </a:tc>
                <a:tc>
                  <a:txBody>
                    <a:bodyPr/>
                    <a:lstStyle/>
                    <a:p>
                      <a:r>
                        <a:rPr sz="1400">
                          <a:solidFill>
                            <a:srgbClr val="0B0B0B"/>
                          </a:solidFill>
                          <a:latin typeface="Calibri"/>
                        </a:rPr>
                        <a:t>91 / −33</a:t>
                      </a:r>
                    </a:p>
                  </a:txBody>
                  <a:tcPr>
                    <a:solidFill>
                      <a:srgbClr val="EEF3F8"/>
                    </a:solidFill>
                  </a:tcPr>
                </a:tc>
                <a:tc>
                  <a:txBody>
                    <a:bodyPr/>
                    <a:lstStyle/>
                    <a:p>
                      <a:r>
                        <a:rPr sz="1400">
                          <a:solidFill>
                            <a:srgbClr val="0B0B0B"/>
                          </a:solidFill>
                          <a:latin typeface="Calibri"/>
                        </a:rPr>
                        <a:t>26 / +6</a:t>
                      </a:r>
                    </a:p>
                  </a:txBody>
                  <a:tcPr>
                    <a:solidFill>
                      <a:srgbClr val="EEF3F8"/>
                    </a:solidFill>
                  </a:tcPr>
                </a:tc>
                <a:tc>
                  <a:txBody>
                    <a:bodyPr/>
                    <a:lstStyle/>
                    <a:p>
                      <a:r>
                        <a:rPr sz="1400">
                          <a:solidFill>
                            <a:srgbClr val="0B0B0B"/>
                          </a:solidFill>
                          <a:latin typeface="Calibri"/>
                        </a:rPr>
                        <a:t>55 / +55</a:t>
                      </a:r>
                    </a:p>
                  </a:txBody>
                  <a:tcPr>
                    <a:solidFill>
                      <a:srgbClr val="EEF3F8"/>
                    </a:solidFill>
                  </a:tcPr>
                </a:tc>
                <a:tc>
                  <a:txBody>
                    <a:bodyPr/>
                    <a:lstStyle/>
                    <a:p>
                      <a:r>
                        <a:rPr sz="1400">
                          <a:solidFill>
                            <a:srgbClr val="0B0B0B"/>
                          </a:solidFill>
                          <a:latin typeface="Calibri"/>
                        </a:rPr>
                        <a:t>68 / +68</a:t>
                      </a:r>
                    </a:p>
                  </a:txBody>
                  <a:tcPr>
                    <a:solidFill>
                      <a:srgbClr val="EEF3F8"/>
                    </a:solidFill>
                  </a:tcPr>
                </a:tc>
                <a:tc>
                  <a:txBody>
                    <a:bodyPr/>
                    <a:lstStyle/>
                    <a:p>
                      <a:r>
                        <a:rPr sz="1400">
                          <a:solidFill>
                            <a:srgbClr val="0B0B0B"/>
                          </a:solidFill>
                          <a:latin typeface="Calibri"/>
                        </a:rPr>
                        <a:t>1.12</a:t>
                      </a:r>
                    </a:p>
                  </a:txBody>
                  <a:tcPr>
                    <a:solidFill>
                      <a:srgbClr val="EEF3F8"/>
                    </a:solidFill>
                  </a:tcPr>
                </a:tc>
              </a:tr>
              <a:tr h="365760">
                <a:tc>
                  <a:txBody>
                    <a:bodyPr/>
                    <a:lstStyle/>
                    <a:p>
                      <a:r>
                        <a:rPr sz="1400">
                          <a:solidFill>
                            <a:srgbClr val="0B0B0B"/>
                          </a:solidFill>
                          <a:latin typeface="Calibri"/>
                        </a:rPr>
                        <a:t>elastic, hybrid</a:t>
                      </a:r>
                    </a:p>
                  </a:txBody>
                  <a:tcPr>
                    <a:solidFill>
                      <a:srgbClr val="FFFFFF"/>
                    </a:solidFill>
                  </a:tcPr>
                </a:tc>
                <a:tc>
                  <a:txBody>
                    <a:bodyPr/>
                    <a:lstStyle/>
                    <a:p>
                      <a:r>
                        <a:rPr sz="1400">
                          <a:solidFill>
                            <a:srgbClr val="0B0B0B"/>
                          </a:solidFill>
                          <a:latin typeface="Calibri"/>
                        </a:rPr>
                        <a:t>5.2 / +3.2</a:t>
                      </a:r>
                    </a:p>
                  </a:txBody>
                  <a:tcPr>
                    <a:solidFill>
                      <a:srgbClr val="FFFFFF"/>
                    </a:solidFill>
                  </a:tcPr>
                </a:tc>
                <a:tc>
                  <a:txBody>
                    <a:bodyPr/>
                    <a:lstStyle/>
                    <a:p>
                      <a:r>
                        <a:rPr sz="1400">
                          <a:solidFill>
                            <a:srgbClr val="0B0B0B"/>
                          </a:solidFill>
                          <a:latin typeface="Calibri"/>
                        </a:rPr>
                        <a:t>135 / −48</a:t>
                      </a:r>
                    </a:p>
                  </a:txBody>
                  <a:tcPr>
                    <a:solidFill>
                      <a:srgbClr val="FFFFFF"/>
                    </a:solidFill>
                  </a:tcPr>
                </a:tc>
                <a:tc>
                  <a:txBody>
                    <a:bodyPr/>
                    <a:lstStyle/>
                    <a:p>
                      <a:r>
                        <a:rPr sz="1400">
                          <a:solidFill>
                            <a:srgbClr val="0B0B0B"/>
                          </a:solidFill>
                          <a:latin typeface="Calibri"/>
                        </a:rPr>
                        <a:t>29 / +14</a:t>
                      </a:r>
                    </a:p>
                  </a:txBody>
                  <a:tcPr>
                    <a:solidFill>
                      <a:srgbClr val="FFFFFF"/>
                    </a:solidFill>
                  </a:tcPr>
                </a:tc>
                <a:tc>
                  <a:txBody>
                    <a:bodyPr/>
                    <a:lstStyle/>
                    <a:p>
                      <a:r>
                        <a:rPr sz="1400">
                          <a:solidFill>
                            <a:srgbClr val="0B0B0B"/>
                          </a:solidFill>
                          <a:latin typeface="Calibri"/>
                        </a:rPr>
                        <a:t>41 / +41</a:t>
                      </a:r>
                    </a:p>
                  </a:txBody>
                  <a:tcPr>
                    <a:solidFill>
                      <a:srgbClr val="FFFFFF"/>
                    </a:solidFill>
                  </a:tcPr>
                </a:tc>
                <a:tc>
                  <a:txBody>
                    <a:bodyPr/>
                    <a:lstStyle/>
                    <a:p>
                      <a:r>
                        <a:rPr sz="1400">
                          <a:solidFill>
                            <a:srgbClr val="0B0B0B"/>
                          </a:solidFill>
                          <a:latin typeface="Calibri"/>
                        </a:rPr>
                        <a:t>60 / +60</a:t>
                      </a:r>
                    </a:p>
                  </a:txBody>
                  <a:tcPr>
                    <a:solidFill>
                      <a:srgbClr val="FFFFFF"/>
                    </a:solidFill>
                  </a:tcPr>
                </a:tc>
                <a:tc>
                  <a:txBody>
                    <a:bodyPr/>
                    <a:lstStyle/>
                    <a:p>
                      <a:r>
                        <a:rPr sz="1400">
                          <a:solidFill>
                            <a:srgbClr val="0B0B0B"/>
                          </a:solidFill>
                          <a:latin typeface="Calibri"/>
                        </a:rPr>
                        <a:t>1.14</a:t>
                      </a:r>
                    </a:p>
                  </a:txBody>
                  <a:tcPr>
                    <a:solidFill>
                      <a:srgbClr val="FFFFFF"/>
                    </a:solidFill>
                  </a:tcPr>
                </a:tc>
              </a:tr>
              <a:tr h="365760">
                <a:tc>
                  <a:txBody>
                    <a:bodyPr/>
                    <a:lstStyle/>
                    <a:p>
                      <a:r>
                        <a:rPr sz="1400">
                          <a:solidFill>
                            <a:srgbClr val="0B0B0B"/>
                          </a:solidFill>
                          <a:latin typeface="Calibri"/>
                        </a:rPr>
                        <a:t>+ Raman</a:t>
                      </a:r>
                    </a:p>
                  </a:txBody>
                  <a:tcPr>
                    <a:solidFill>
                      <a:srgbClr val="EEF3F8"/>
                    </a:solidFill>
                  </a:tcPr>
                </a:tc>
                <a:tc>
                  <a:txBody>
                    <a:bodyPr/>
                    <a:lstStyle/>
                    <a:p>
                      <a:r>
                        <a:rPr sz="1400">
                          <a:solidFill>
                            <a:srgbClr val="0B0B0B"/>
                          </a:solidFill>
                          <a:latin typeface="Calibri"/>
                        </a:rPr>
                        <a:t>5.1 / +3.6</a:t>
                      </a:r>
                    </a:p>
                  </a:txBody>
                  <a:tcPr>
                    <a:solidFill>
                      <a:srgbClr val="EEF3F8"/>
                    </a:solidFill>
                  </a:tcPr>
                </a:tc>
                <a:tc>
                  <a:txBody>
                    <a:bodyPr/>
                    <a:lstStyle/>
                    <a:p>
                      <a:r>
                        <a:rPr sz="1400">
                          <a:solidFill>
                            <a:srgbClr val="0B0B0B"/>
                          </a:solidFill>
                          <a:latin typeface="Calibri"/>
                        </a:rPr>
                        <a:t>252 / −69</a:t>
                      </a:r>
                    </a:p>
                  </a:txBody>
                  <a:tcPr>
                    <a:solidFill>
                      <a:srgbClr val="EEF3F8"/>
                    </a:solidFill>
                  </a:tcPr>
                </a:tc>
                <a:tc>
                  <a:txBody>
                    <a:bodyPr/>
                    <a:lstStyle/>
                    <a:p>
                      <a:r>
                        <a:rPr sz="1400">
                          <a:solidFill>
                            <a:srgbClr val="0B0B0B"/>
                          </a:solidFill>
                          <a:latin typeface="Calibri"/>
                        </a:rPr>
                        <a:t>38 / +31</a:t>
                      </a:r>
                    </a:p>
                  </a:txBody>
                  <a:tcPr>
                    <a:solidFill>
                      <a:srgbClr val="EEF3F8"/>
                    </a:solidFill>
                  </a:tcPr>
                </a:tc>
                <a:tc>
                  <a:txBody>
                    <a:bodyPr/>
                    <a:lstStyle/>
                    <a:p>
                      <a:r>
                        <a:rPr sz="1400">
                          <a:solidFill>
                            <a:srgbClr val="0B0B0B"/>
                          </a:solidFill>
                          <a:latin typeface="Calibri"/>
                        </a:rPr>
                        <a:t>12 / +10</a:t>
                      </a:r>
                    </a:p>
                  </a:txBody>
                  <a:tcPr>
                    <a:solidFill>
                      <a:srgbClr val="EEF3F8"/>
                    </a:solidFill>
                  </a:tcPr>
                </a:tc>
                <a:tc>
                  <a:txBody>
                    <a:bodyPr/>
                    <a:lstStyle/>
                    <a:p>
                      <a:r>
                        <a:rPr sz="1400">
                          <a:solidFill>
                            <a:srgbClr val="0B0B0B"/>
                          </a:solidFill>
                          <a:latin typeface="Calibri"/>
                        </a:rPr>
                        <a:t>26 / +26</a:t>
                      </a:r>
                    </a:p>
                  </a:txBody>
                  <a:tcPr>
                    <a:solidFill>
                      <a:srgbClr val="EEF3F8"/>
                    </a:solidFill>
                  </a:tcPr>
                </a:tc>
                <a:tc>
                  <a:txBody>
                    <a:bodyPr/>
                    <a:lstStyle/>
                    <a:p>
                      <a:r>
                        <a:rPr sz="1400">
                          <a:solidFill>
                            <a:srgbClr val="0B0B0B"/>
                          </a:solidFill>
                          <a:latin typeface="Calibri"/>
                        </a:rPr>
                        <a:t>1.14</a:t>
                      </a:r>
                    </a:p>
                  </a:txBody>
                  <a:tcPr>
                    <a:solidFill>
                      <a:srgbClr val="EEF3F8"/>
                    </a:solidFill>
                  </a:tcPr>
                </a:tc>
              </a:tr>
              <a:tr h="365760">
                <a:tc>
                  <a:txBody>
                    <a:bodyPr/>
                    <a:lstStyle/>
                    <a:p>
                      <a:r>
                        <a:rPr sz="1400">
                          <a:solidFill>
                            <a:srgbClr val="0B0B0B"/>
                          </a:solidFill>
                          <a:latin typeface="Calibri"/>
                        </a:rPr>
                        <a:t>+ Chl fluorescence</a:t>
                      </a:r>
                    </a:p>
                  </a:txBody>
                  <a:tcPr>
                    <a:solidFill>
                      <a:srgbClr val="FFFFFF"/>
                    </a:solidFill>
                  </a:tcPr>
                </a:tc>
                <a:tc>
                  <a:txBody>
                    <a:bodyPr/>
                    <a:lstStyle/>
                    <a:p>
                      <a:r>
                        <a:rPr sz="1400">
                          <a:solidFill>
                            <a:srgbClr val="0B0B0B"/>
                          </a:solidFill>
                          <a:latin typeface="Calibri"/>
                        </a:rPr>
                        <a:t>5.9 / +4.9</a:t>
                      </a:r>
                    </a:p>
                  </a:txBody>
                  <a:tcPr>
                    <a:solidFill>
                      <a:srgbClr val="FFFFFF"/>
                    </a:solidFill>
                  </a:tcPr>
                </a:tc>
                <a:tc>
                  <a:txBody>
                    <a:bodyPr/>
                    <a:lstStyle/>
                    <a:p>
                      <a:r>
                        <a:rPr sz="1400">
                          <a:solidFill>
                            <a:srgbClr val="0B0B0B"/>
                          </a:solidFill>
                          <a:latin typeface="Calibri"/>
                        </a:rPr>
                        <a:t>85 / −38</a:t>
                      </a:r>
                    </a:p>
                  </a:txBody>
                  <a:tcPr>
                    <a:solidFill>
                      <a:srgbClr val="FFFFFF"/>
                    </a:solidFill>
                  </a:tcPr>
                </a:tc>
                <a:tc>
                  <a:txBody>
                    <a:bodyPr/>
                    <a:lstStyle/>
                    <a:p>
                      <a:r>
                        <a:rPr sz="1400">
                          <a:solidFill>
                            <a:srgbClr val="0B0B0B"/>
                          </a:solidFill>
                          <a:latin typeface="Calibri"/>
                        </a:rPr>
                        <a:t>26 / +20</a:t>
                      </a:r>
                    </a:p>
                  </a:txBody>
                  <a:tcPr>
                    <a:solidFill>
                      <a:srgbClr val="FFFFFF"/>
                    </a:solidFill>
                  </a:tcPr>
                </a:tc>
                <a:tc>
                  <a:txBody>
                    <a:bodyPr/>
                    <a:lstStyle/>
                    <a:p>
                      <a:r>
                        <a:rPr sz="1400">
                          <a:solidFill>
                            <a:srgbClr val="0B0B0B"/>
                          </a:solidFill>
                          <a:latin typeface="Calibri"/>
                        </a:rPr>
                        <a:t>10 / +6</a:t>
                      </a:r>
                    </a:p>
                  </a:txBody>
                  <a:tcPr>
                    <a:solidFill>
                      <a:srgbClr val="FFFFFF"/>
                    </a:solidFill>
                  </a:tcPr>
                </a:tc>
                <a:tc>
                  <a:txBody>
                    <a:bodyPr/>
                    <a:lstStyle/>
                    <a:p>
                      <a:r>
                        <a:rPr sz="1400">
                          <a:solidFill>
                            <a:srgbClr val="0B0B0B"/>
                          </a:solidFill>
                          <a:latin typeface="Calibri"/>
                        </a:rPr>
                        <a:t>18 / +16</a:t>
                      </a:r>
                    </a:p>
                  </a:txBody>
                  <a:tcPr>
                    <a:solidFill>
                      <a:srgbClr val="FFFFFF"/>
                    </a:solidFill>
                  </a:tcPr>
                </a:tc>
                <a:tc>
                  <a:txBody>
                    <a:bodyPr/>
                    <a:lstStyle/>
                    <a:p>
                      <a:r>
                        <a:rPr sz="1400">
                          <a:solidFill>
                            <a:srgbClr val="0B0B0B"/>
                          </a:solidFill>
                          <a:latin typeface="Calibri"/>
                        </a:rPr>
                        <a:t>1.07</a:t>
                      </a:r>
                    </a:p>
                  </a:txBody>
                  <a:tcPr>
                    <a:solidFill>
                      <a:srgbClr val="FFFFFF"/>
                    </a:solidFill>
                  </a:tcPr>
                </a:tc>
              </a:tr>
              <a:tr h="365760">
                <a:tc>
                  <a:txBody>
                    <a:bodyPr/>
                    <a:lstStyle/>
                    <a:p>
                      <a:r>
                        <a:rPr sz="1400">
                          <a:solidFill>
                            <a:srgbClr val="0B0B0B"/>
                          </a:solidFill>
                          <a:latin typeface="Calibri"/>
                        </a:rPr>
                        <a:t>+ CDOM fluorescence</a:t>
                      </a:r>
                    </a:p>
                  </a:txBody>
                  <a:tcPr>
                    <a:solidFill>
                      <a:srgbClr val="EEF3F8"/>
                    </a:solidFill>
                  </a:tcPr>
                </a:tc>
                <a:tc>
                  <a:txBody>
                    <a:bodyPr/>
                    <a:lstStyle/>
                    <a:p>
                      <a:r>
                        <a:rPr sz="1400">
                          <a:solidFill>
                            <a:srgbClr val="0B0B0B"/>
                          </a:solidFill>
                          <a:latin typeface="Calibri"/>
                        </a:rPr>
                        <a:t>5.0 / +2.8</a:t>
                      </a:r>
                    </a:p>
                  </a:txBody>
                  <a:tcPr>
                    <a:solidFill>
                      <a:srgbClr val="EEF3F8"/>
                    </a:solidFill>
                  </a:tcPr>
                </a:tc>
                <a:tc>
                  <a:txBody>
                    <a:bodyPr/>
                    <a:lstStyle/>
                    <a:p>
                      <a:r>
                        <a:rPr sz="1400">
                          <a:solidFill>
                            <a:srgbClr val="0B0B0B"/>
                          </a:solidFill>
                          <a:latin typeface="Calibri"/>
                        </a:rPr>
                        <a:t>93 / −40</a:t>
                      </a:r>
                    </a:p>
                  </a:txBody>
                  <a:tcPr>
                    <a:solidFill>
                      <a:srgbClr val="EEF3F8"/>
                    </a:solidFill>
                  </a:tcPr>
                </a:tc>
                <a:tc>
                  <a:txBody>
                    <a:bodyPr/>
                    <a:lstStyle/>
                    <a:p>
                      <a:r>
                        <a:rPr sz="1400">
                          <a:solidFill>
                            <a:srgbClr val="0B0B0B"/>
                          </a:solidFill>
                          <a:latin typeface="Calibri"/>
                        </a:rPr>
                        <a:t>25 / +17</a:t>
                      </a:r>
                    </a:p>
                  </a:txBody>
                  <a:tcPr>
                    <a:solidFill>
                      <a:srgbClr val="EEF3F8"/>
                    </a:solidFill>
                  </a:tcPr>
                </a:tc>
                <a:tc>
                  <a:txBody>
                    <a:bodyPr/>
                    <a:lstStyle/>
                    <a:p>
                      <a:r>
                        <a:rPr sz="1400">
                          <a:solidFill>
                            <a:srgbClr val="0B0B0B"/>
                          </a:solidFill>
                          <a:latin typeface="Calibri"/>
                        </a:rPr>
                        <a:t>12 / −5</a:t>
                      </a:r>
                    </a:p>
                  </a:txBody>
                  <a:tcPr>
                    <a:solidFill>
                      <a:srgbClr val="EEF3F8"/>
                    </a:solidFill>
                  </a:tcPr>
                </a:tc>
                <a:tc>
                  <a:txBody>
                    <a:bodyPr/>
                    <a:lstStyle/>
                    <a:p>
                      <a:r>
                        <a:rPr sz="1400">
                          <a:solidFill>
                            <a:srgbClr val="0B0B0B"/>
                          </a:solidFill>
                          <a:latin typeface="Calibri"/>
                        </a:rPr>
                        <a:t>13 / +6</a:t>
                      </a:r>
                    </a:p>
                  </a:txBody>
                  <a:tcPr>
                    <a:solidFill>
                      <a:srgbClr val="EEF3F8"/>
                    </a:solidFill>
                  </a:tcPr>
                </a:tc>
                <a:tc>
                  <a:txBody>
                    <a:bodyPr/>
                    <a:lstStyle/>
                    <a:p>
                      <a:r>
                        <a:rPr sz="1400">
                          <a:solidFill>
                            <a:srgbClr val="0B0B0B"/>
                          </a:solidFill>
                          <a:latin typeface="Calibri"/>
                        </a:rPr>
                        <a:t>1.08</a:t>
                      </a:r>
                    </a:p>
                  </a:txBody>
                  <a:tcPr>
                    <a:solidFill>
                      <a:srgbClr val="EEF3F8"/>
                    </a:solidFill>
                  </a:tcPr>
                </a:tc>
              </a:tr>
            </a:tbl>
          </a:graphicData>
        </a:graphic>
      </p:graphicFrame>
      <p:sp>
        <p:nvSpPr>
          <p:cNvPr id="4" name="TextBox 3"/>
          <p:cNvSpPr txBox="1"/>
          <p:nvPr/>
        </p:nvSpPr>
        <p:spPr>
          <a:xfrm>
            <a:off x="457200" y="5852160"/>
            <a:ext cx="11247120" cy="548640"/>
          </a:xfrm>
          <a:prstGeom prst="rect">
            <a:avLst/>
          </a:prstGeom>
          <a:noFill/>
        </p:spPr>
        <p:txBody>
          <a:bodyPr wrap="square" anchor="t" lIns="45720" rIns="45720">
            <a:spAutoFit/>
          </a:bodyPr>
          <a:lstStyle/>
          <a:p>
            <a:pPr algn="l"/>
            <a:r>
              <a:rPr sz="1500" b="0" i="1">
                <a:solidFill>
                  <a:srgbClr val="52514E"/>
                </a:solidFill>
                <a:latin typeface="Calibri"/>
              </a:rPr>
              <a:t>Percent.  Coverage of the 68 % interval on b_bp(555): 0.00, 0.02, 0.52, 0.63, 0.59 down the ladder.  Every cell reconciled against the IOPtics page (reports/rta_reconcile.md, 0 discrepancies).</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backup 6</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IOPtics RT-ladder pages (rt_tests_A_l23_v1, rt_tests_A_pangaea_v1, rt_tests_B_v1), built 2026-09-18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nchor="t" lIns="45720" rIns="45720">
            <a:spAutoFit/>
          </a:bodyPr>
          <a:lstStyle/>
          <a:p>
            <a:pPr algn="l"/>
            <a:r>
              <a:rPr sz="2600" b="1" i="0">
                <a:solidFill>
                  <a:srgbClr val="14213D"/>
                </a:solidFill>
                <a:latin typeface="Cambria"/>
              </a:rPr>
              <a:t>B6 — Where every citation lives</a:t>
            </a:r>
          </a:p>
        </p:txBody>
      </p:sp>
      <p:sp>
        <p:nvSpPr>
          <p:cNvPr id="3" name="TextBox 2"/>
          <p:cNvSpPr txBox="1"/>
          <p:nvPr/>
        </p:nvSpPr>
        <p:spPr>
          <a:xfrm>
            <a:off x="457200"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62 artefacts cited; 47 not yet on main</a:t>
            </a:r>
          </a:p>
          <a:p>
            <a:pPr>
              <a:spcAft>
                <a:spcPts val="600"/>
              </a:spcAft>
            </a:pPr>
            <a:r>
              <a:rPr sz="1400" b="0">
                <a:solidFill>
                  <a:srgbClr val="0B0B0B"/>
                </a:solidFill>
                <a:latin typeface="Calibri"/>
              </a:rPr>
              <a:t>•  RoB inelastic-rt (14), IOPtics rt-tests (18), PAB full-inelastic (6) + hyper_matchups (1), BING rob_cdom (3), this repository's qualifying-exam branch (4)</a:t>
            </a:r>
          </a:p>
          <a:p>
            <a:pPr>
              <a:spcAft>
                <a:spcPts val="600"/>
              </a:spcAft>
            </a:pPr>
            <a:r>
              <a:rPr sz="1400" b="0">
                <a:solidFill>
                  <a:srgbClr val="0B0B0B"/>
                </a:solidFill>
                <a:latin typeface="Calibri"/>
              </a:rPr>
              <a:t>•  EPFT-UP and ocpy: everything on main</a:t>
            </a:r>
          </a:p>
          <a:p>
            <a:pPr>
              <a:spcAft>
                <a:spcPts val="600"/>
              </a:spcAft>
            </a:pPr>
            <a:r>
              <a:rPr sz="1400" b="1">
                <a:solidFill>
                  <a:srgbClr val="0B0B0B"/>
                </a:solidFill>
                <a:latin typeface="Calibri"/>
              </a:rPr>
              <a:t>•  The manifest records, for each, the path, the branch and the last-touching commit</a:t>
            </a:r>
          </a:p>
          <a:p>
            <a:pPr>
              <a:spcAft>
                <a:spcPts val="600"/>
              </a:spcAft>
            </a:pPr>
            <a:r>
              <a:rPr sz="1400" b="0">
                <a:solidFill>
                  <a:srgbClr val="0B0B0B"/>
                </a:solidFill>
                <a:latin typeface="Calibri"/>
              </a:rPr>
              <a:t>•  the advisor has undertaken to make main resolve them after submission</a:t>
            </a:r>
          </a:p>
          <a:p>
            <a:pPr>
              <a:spcAft>
                <a:spcPts val="600"/>
              </a:spcAft>
            </a:pPr>
            <a:r>
              <a:rPr sz="1400" b="1">
                <a:solidFill>
                  <a:srgbClr val="0B0B0B"/>
                </a:solidFill>
                <a:latin typeface="Calibri"/>
              </a:rPr>
              <a:t>•  Sweep outputs are not in git</a:t>
            </a:r>
          </a:p>
          <a:p>
            <a:pPr>
              <a:spcAft>
                <a:spcPts val="600"/>
              </a:spcAft>
            </a:pPr>
            <a:r>
              <a:rPr sz="1400" b="0">
                <a:solidFill>
                  <a:srgbClr val="0B0B0B"/>
                </a:solidFill>
                <a:latin typeface="Calibri"/>
              </a:rPr>
              <a:t>•  parquet + chains under $OS_COLOR/IOPtics/runs on the canonical workstation; each page stamps the code and config that produced it</a:t>
            </a:r>
          </a:p>
        </p:txBody>
      </p:sp>
      <p:sp>
        <p:nvSpPr>
          <p:cNvPr id="4" name="TextBox 3"/>
          <p:cNvSpPr txBox="1"/>
          <p:nvPr/>
        </p:nvSpPr>
        <p:spPr>
          <a:xfrm>
            <a:off x="6277356" y="1371600"/>
            <a:ext cx="5454396" cy="4389120"/>
          </a:xfrm>
          <a:prstGeom prst="rect">
            <a:avLst/>
          </a:prstGeom>
          <a:noFill/>
        </p:spPr>
        <p:txBody>
          <a:bodyPr wrap="square">
            <a:spAutoFit/>
          </a:bodyPr>
          <a:lstStyle/>
          <a:p>
            <a:pPr>
              <a:spcAft>
                <a:spcPts val="600"/>
              </a:spcAft>
            </a:pPr>
            <a:r>
              <a:rPr sz="1400" b="1">
                <a:solidFill>
                  <a:srgbClr val="0B0B0B"/>
                </a:solidFill>
                <a:latin typeface="Calibri"/>
              </a:rPr>
              <a:t>•  Repositories</a:t>
            </a:r>
          </a:p>
          <a:p>
            <a:pPr>
              <a:spcAft>
                <a:spcPts val="600"/>
              </a:spcAft>
            </a:pPr>
            <a:r>
              <a:rPr sz="1400" b="0">
                <a:solidFill>
                  <a:srgbClr val="0B0B0B"/>
                </a:solidFill>
                <a:latin typeface="Calibri"/>
              </a:rPr>
              <a:t>•  github.com/ocean-colour/{IOPtics, retrieve-or-bust, PAB, bing, EPFT-UP, ocpy}</a:t>
            </a:r>
          </a:p>
          <a:p>
            <a:pPr>
              <a:spcAft>
                <a:spcPts val="600"/>
              </a:spcAft>
            </a:pPr>
            <a:r>
              <a:rPr sz="1400" b="0">
                <a:solidFill>
                  <a:srgbClr val="0B0B0B"/>
                </a:solidFill>
                <a:latin typeface="Calibri"/>
              </a:rPr>
              <a:t>•  github.com/Sea-Meets-the-Stars/claudes-phd-thesis</a:t>
            </a:r>
          </a:p>
          <a:p>
            <a:pPr>
              <a:spcAft>
                <a:spcPts val="600"/>
              </a:spcAft>
            </a:pPr>
            <a:r>
              <a:rPr sz="1400" b="1">
                <a:solidFill>
                  <a:srgbClr val="0B0B0B"/>
                </a:solidFill>
                <a:latin typeface="Calibri"/>
              </a:rPr>
              <a:t>•  Documentation sites</a:t>
            </a:r>
          </a:p>
          <a:p>
            <a:pPr>
              <a:spcAft>
                <a:spcPts val="600"/>
              </a:spcAft>
            </a:pPr>
            <a:r>
              <a:rPr sz="1400" b="0">
                <a:solidFill>
                  <a:srgbClr val="0B0B0B"/>
                </a:solidFill>
                <a:latin typeface="Calibri"/>
              </a:rPr>
              <a:t>•  ioptics.readthedocs.io · retrieve-or-bust.readthedocs.io · pab-report.readthedocs.io · epft-up.readthedocs.io</a:t>
            </a:r>
          </a:p>
          <a:p>
            <a:pPr>
              <a:spcAft>
                <a:spcPts val="600"/>
              </a:spcAft>
            </a:pPr>
            <a:r>
              <a:rPr sz="1400" b="1">
                <a:solidFill>
                  <a:srgbClr val="0B0B0B"/>
                </a:solidFill>
                <a:latin typeface="Calibri"/>
              </a:rPr>
              <a:t>•  DOI</a:t>
            </a:r>
          </a:p>
          <a:p>
            <a:pPr>
              <a:spcAft>
                <a:spcPts val="600"/>
              </a:spcAft>
            </a:pPr>
            <a:r>
              <a:rPr sz="1400" b="0">
                <a:solidFill>
                  <a:srgbClr val="0B0B0B"/>
                </a:solidFill>
                <a:latin typeface="Calibri"/>
              </a:rPr>
              <a:t>•  EPFT-UP v0.1.0: 10.5281/zenodo.22797970; others after submission</a:t>
            </a:r>
          </a:p>
        </p:txBody>
      </p:sp>
      <p:sp>
        <p:nvSpPr>
          <p:cNvPr id="5" name="TextBox 4"/>
          <p:cNvSpPr txBox="1"/>
          <p:nvPr/>
        </p:nvSpPr>
        <p:spPr>
          <a:xfrm>
            <a:off x="10728655" y="6446520"/>
            <a:ext cx="1188720" cy="320040"/>
          </a:xfrm>
          <a:prstGeom prst="rect">
            <a:avLst/>
          </a:prstGeom>
          <a:noFill/>
        </p:spPr>
        <p:txBody>
          <a:bodyPr wrap="square" anchor="t" lIns="45720" rIns="45720">
            <a:spAutoFit/>
          </a:bodyPr>
          <a:lstStyle/>
          <a:p>
            <a:pPr algn="r"/>
            <a:r>
              <a:rPr sz="1000" b="0" i="0">
                <a:solidFill>
                  <a:srgbClr val="8A8984"/>
                </a:solidFill>
                <a:latin typeface="Calibri"/>
              </a:rPr>
              <a:t>backup 7</a:t>
            </a:r>
          </a:p>
        </p:txBody>
      </p:sp>
      <p:sp>
        <p:nvSpPr>
          <p:cNvPr id="6" name="TextBox 5"/>
          <p:cNvSpPr txBox="1"/>
          <p:nvPr/>
        </p:nvSpPr>
        <p:spPr>
          <a:xfrm>
            <a:off x="457200" y="6446520"/>
            <a:ext cx="8686800" cy="320040"/>
          </a:xfrm>
          <a:prstGeom prst="rect">
            <a:avLst/>
          </a:prstGeom>
          <a:noFill/>
        </p:spPr>
        <p:txBody>
          <a:bodyPr wrap="square" anchor="t" lIns="45720" rIns="45720">
            <a:spAutoFit/>
          </a:bodyPr>
          <a:lstStyle/>
          <a:p>
            <a:pPr algn="l"/>
            <a:r>
              <a:rPr sz="900" b="0" i="0">
                <a:solidFill>
                  <a:srgbClr val="8A8984"/>
                </a:solidFill>
                <a:latin typeface="Calibri"/>
              </a:rPr>
              <a:t>claudes-phd-thesis reports/citation_manifest.md, reports/merge_checklist.md (2026-09-18)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